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5486400" cy="365760"/>
          </a:xfrm>
          <a:prstGeom prst="rect">
            <a:avLst/>
          </a:prstGeom>
          <a:noFill/>
        </p:spPr>
        <p:txBody>
          <a:bodyPr wrap="square" lIns="0" rIns="0" tIns="0" bIns="0" anchor="t">
            <a:spAutoFit/>
          </a:bodyPr>
          <a:lstStyle/>
          <a:p>
            <a:pPr algn="l"/>
            <a:r>
              <a:rPr sz="1200" b="1" i="0">
                <a:solidFill>
                  <a:srgbClr val="FFFFFF"/>
                </a:solidFill>
                <a:latin typeface="Inter"/>
              </a:rPr>
              <a:t>KAIRO · EDU-OS</a:t>
            </a:r>
          </a:p>
        </p:txBody>
      </p:sp>
      <p:sp>
        <p:nvSpPr>
          <p:cNvPr id="6" name="TextBox 5"/>
          <p:cNvSpPr txBox="1"/>
          <p:nvPr/>
        </p:nvSpPr>
        <p:spPr>
          <a:xfrm>
            <a:off x="6675120" y="457200"/>
            <a:ext cx="5029200" cy="365760"/>
          </a:xfrm>
          <a:prstGeom prst="rect">
            <a:avLst/>
          </a:prstGeom>
          <a:noFill/>
        </p:spPr>
        <p:txBody>
          <a:bodyPr wrap="square" lIns="0" rIns="0" tIns="0" bIns="0" anchor="t">
            <a:spAutoFit/>
          </a:bodyPr>
          <a:lstStyle/>
          <a:p>
            <a:pPr algn="r"/>
            <a:r>
              <a:rPr sz="1200" b="0" i="0">
                <a:solidFill>
                  <a:srgbClr val="8A8A96"/>
                </a:solidFill>
                <a:latin typeface="Inter"/>
              </a:rPr>
              <a:t>ISSUE №01  ·  MAY 2026  ·  CHENNAI</a:t>
            </a:r>
          </a:p>
        </p:txBody>
      </p:sp>
      <p:sp>
        <p:nvSpPr>
          <p:cNvPr id="7" name="Rectangle 6"/>
          <p:cNvSpPr/>
          <p:nvPr/>
        </p:nvSpPr>
        <p:spPr>
          <a:xfrm>
            <a:off x="548640" y="914400"/>
            <a:ext cx="11091672" cy="15240"/>
          </a:xfrm>
          <a:prstGeom prst="rect">
            <a:avLst/>
          </a:prstGeom>
          <a:solidFill>
            <a:srgbClr val="222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28800"/>
            <a:ext cx="10972800" cy="1371600"/>
          </a:xfrm>
          <a:prstGeom prst="rect">
            <a:avLst/>
          </a:prstGeom>
          <a:noFill/>
        </p:spPr>
        <p:txBody>
          <a:bodyPr wrap="square" lIns="0" rIns="0" tIns="0" bIns="0" anchor="t">
            <a:spAutoFit/>
          </a:bodyPr>
          <a:lstStyle/>
          <a:p>
            <a:pPr algn="l"/>
            <a:r>
              <a:rPr sz="14000" b="1" i="0">
                <a:solidFill>
                  <a:srgbClr val="FFFFFF"/>
                </a:solidFill>
                <a:latin typeface="Inter"/>
              </a:rPr>
              <a:t>KAIRO.</a:t>
            </a:r>
          </a:p>
        </p:txBody>
      </p:sp>
      <p:sp>
        <p:nvSpPr>
          <p:cNvPr id="9" name="TextBox 8"/>
          <p:cNvSpPr txBox="1"/>
          <p:nvPr/>
        </p:nvSpPr>
        <p:spPr>
          <a:xfrm>
            <a:off x="548640" y="3566160"/>
            <a:ext cx="10972800" cy="914400"/>
          </a:xfrm>
          <a:prstGeom prst="rect">
            <a:avLst/>
          </a:prstGeom>
          <a:noFill/>
        </p:spPr>
        <p:txBody>
          <a:bodyPr wrap="square" lIns="0" rIns="0" tIns="0" bIns="0" anchor="t">
            <a:spAutoFit/>
          </a:bodyPr>
          <a:lstStyle/>
          <a:p>
            <a:pPr algn="l"/>
            <a:r>
              <a:rPr sz="3400" b="0" i="1">
                <a:solidFill>
                  <a:srgbClr val="C4B5FD"/>
                </a:solidFill>
                <a:latin typeface="Inter"/>
              </a:rPr>
              <a:t>An AI that remembers your mind.</a:t>
            </a:r>
          </a:p>
        </p:txBody>
      </p:sp>
      <p:sp>
        <p:nvSpPr>
          <p:cNvPr id="10" name="Rectangle 9"/>
          <p:cNvSpPr/>
          <p:nvPr/>
        </p:nvSpPr>
        <p:spPr>
          <a:xfrm>
            <a:off x="548640" y="4572000"/>
            <a:ext cx="201168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0972800" cy="502920"/>
          </a:xfrm>
          <a:prstGeom prst="rect">
            <a:avLst/>
          </a:prstGeom>
          <a:noFill/>
        </p:spPr>
        <p:txBody>
          <a:bodyPr wrap="square" lIns="0" rIns="0" tIns="0" bIns="0" anchor="t">
            <a:spAutoFit/>
          </a:bodyPr>
          <a:lstStyle/>
          <a:p>
            <a:pPr algn="l"/>
            <a:r>
              <a:rPr sz="1800" b="0" i="0">
                <a:solidFill>
                  <a:srgbClr val="C1C1C8"/>
                </a:solidFill>
                <a:latin typeface="Inter"/>
              </a:rPr>
              <a:t>A learning operating system for Class 9–12 India.</a:t>
            </a:r>
          </a:p>
        </p:txBody>
      </p:sp>
      <p:sp>
        <p:nvSpPr>
          <p:cNvPr id="12" name="TextBox 11"/>
          <p:cNvSpPr txBox="1"/>
          <p:nvPr/>
        </p:nvSpPr>
        <p:spPr>
          <a:xfrm>
            <a:off x="548640" y="5349240"/>
            <a:ext cx="10972800" cy="502920"/>
          </a:xfrm>
          <a:prstGeom prst="rect">
            <a:avLst/>
          </a:prstGeom>
          <a:noFill/>
        </p:spPr>
        <p:txBody>
          <a:bodyPr wrap="square" lIns="0" rIns="0" tIns="0" bIns="0" anchor="t">
            <a:spAutoFit/>
          </a:bodyPr>
          <a:lstStyle/>
          <a:p>
            <a:pPr algn="l"/>
            <a:r>
              <a:rPr sz="1300" b="0" i="0">
                <a:solidFill>
                  <a:srgbClr val="8A8A96"/>
                </a:solidFill>
                <a:latin typeface="Inter"/>
              </a:rPr>
              <a:t>CBSE · ICSE · State boards.</a:t>
            </a:r>
          </a:p>
        </p:txBody>
      </p:sp>
      <p:sp>
        <p:nvSpPr>
          <p:cNvPr id="13" name="TextBox 12"/>
          <p:cNvSpPr txBox="1"/>
          <p:nvPr/>
        </p:nvSpPr>
        <p:spPr>
          <a:xfrm>
            <a:off x="548640" y="6126480"/>
            <a:ext cx="10972800" cy="365760"/>
          </a:xfrm>
          <a:prstGeom prst="rect">
            <a:avLst/>
          </a:prstGeom>
          <a:noFill/>
        </p:spPr>
        <p:txBody>
          <a:bodyPr wrap="square" lIns="0" rIns="0" tIns="0" bIns="0" anchor="t">
            <a:spAutoFit/>
          </a:bodyPr>
          <a:lstStyle/>
          <a:p>
            <a:pPr algn="l"/>
            <a:r>
              <a:rPr sz="1100" b="0" i="0">
                <a:solidFill>
                  <a:srgbClr val="5A5A66"/>
                </a:solidFill>
                <a:latin typeface="Inter"/>
              </a:rPr>
              <a:t>Built by Darshan — 13, Chennai · 2026</a:t>
            </a:r>
          </a:p>
        </p:txBody>
      </p:sp>
      <p:sp>
        <p:nvSpPr>
          <p:cNvPr id="14" name="TextBox 13"/>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5" name="TextBox 14"/>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PROBLEM</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01.</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Forty million students. One textbook.</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520440"/>
            <a:ext cx="10972800" cy="2926080"/>
          </a:xfrm>
          <a:prstGeom prst="rect">
            <a:avLst/>
          </a:prstGeom>
          <a:noFill/>
        </p:spPr>
        <p:txBody>
          <a:bodyPr wrap="square" lIns="0" rIns="0" tIns="0" bIns="0">
            <a:spAutoFit/>
          </a:bodyPr>
          <a:lstStyle/>
          <a:p>
            <a:pPr algn="l">
              <a:spcAft>
                <a:spcPts val="1200"/>
              </a:spcAft>
            </a:pPr>
            <a:r>
              <a:rPr sz="1450" b="1">
                <a:solidFill>
                  <a:srgbClr val="C4B5FD"/>
                </a:solidFill>
                <a:latin typeface="Inter"/>
              </a:rPr>
              <a:t>•  </a:t>
            </a:r>
            <a:r>
              <a:rPr sz="1450" b="1">
                <a:solidFill>
                  <a:srgbClr val="FFFFFF"/>
                </a:solidFill>
                <a:latin typeface="Inter"/>
              </a:rPr>
              <a:t>Every student gets the same textbook.</a:t>
            </a:r>
            <a:r>
              <a:rPr sz="1450">
                <a:solidFill>
                  <a:srgbClr val="C1C1C8"/>
                </a:solidFill>
                <a:latin typeface="Inter"/>
              </a:rPr>
              <a:t> — Nobody gets the same brain.</a:t>
            </a:r>
          </a:p>
          <a:p>
            <a:pPr algn="l">
              <a:spcAft>
                <a:spcPts val="1200"/>
              </a:spcAft>
            </a:pPr>
            <a:r>
              <a:rPr sz="1450" b="1">
                <a:solidFill>
                  <a:srgbClr val="C4B5FD"/>
                </a:solidFill>
                <a:latin typeface="Inter"/>
              </a:rPr>
              <a:t>•  </a:t>
            </a:r>
            <a:r>
              <a:rPr sz="1450" b="1">
                <a:solidFill>
                  <a:srgbClr val="FFFFFF"/>
                </a:solidFill>
                <a:latin typeface="Inter"/>
              </a:rPr>
              <a:t>Teachers move at the speed of the syllabus.</a:t>
            </a:r>
            <a:r>
              <a:rPr sz="1450">
                <a:solidFill>
                  <a:srgbClr val="C1C1C8"/>
                </a:solidFill>
                <a:latin typeface="Inter"/>
              </a:rPr>
              <a:t> — Not at the speed of the student.</a:t>
            </a:r>
          </a:p>
          <a:p>
            <a:pPr algn="l">
              <a:spcAft>
                <a:spcPts val="1200"/>
              </a:spcAft>
            </a:pPr>
            <a:r>
              <a:rPr sz="1450" b="1">
                <a:solidFill>
                  <a:srgbClr val="C4B5FD"/>
                </a:solidFill>
                <a:latin typeface="Inter"/>
              </a:rPr>
              <a:t>•  </a:t>
            </a:r>
            <a:r>
              <a:rPr sz="1450" b="1">
                <a:solidFill>
                  <a:srgbClr val="FFFFFF"/>
                </a:solidFill>
                <a:latin typeface="Inter"/>
              </a:rPr>
              <a:t>Coaching costs ₹50,000+ a year.</a:t>
            </a:r>
            <a:r>
              <a:rPr sz="1450">
                <a:solidFill>
                  <a:srgbClr val="C1C1C8"/>
                </a:solidFill>
                <a:latin typeface="Inter"/>
              </a:rPr>
              <a:t> — Most families can't afford it.</a:t>
            </a:r>
          </a:p>
          <a:p>
            <a:pPr algn="l">
              <a:spcAft>
                <a:spcPts val="1200"/>
              </a:spcAft>
            </a:pPr>
            <a:r>
              <a:rPr sz="1450" b="1">
                <a:solidFill>
                  <a:srgbClr val="C4B5FD"/>
                </a:solidFill>
                <a:latin typeface="Inter"/>
              </a:rPr>
              <a:t>•  </a:t>
            </a:r>
            <a:r>
              <a:rPr sz="1450" b="1">
                <a:solidFill>
                  <a:srgbClr val="FFFFFF"/>
                </a:solidFill>
                <a:latin typeface="Inter"/>
              </a:rPr>
              <a:t>Apps exist.</a:t>
            </a:r>
            <a:r>
              <a:rPr sz="1450">
                <a:solidFill>
                  <a:srgbClr val="C1C1C8"/>
                </a:solidFill>
                <a:latin typeface="Inter"/>
              </a:rPr>
              <a:t> — But none remember what YOU forgot last Wednesday.</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CLAIM</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02.</a:t>
            </a:r>
          </a:p>
        </p:txBody>
      </p:sp>
      <p:sp>
        <p:nvSpPr>
          <p:cNvPr id="7" name="TextBox 6"/>
          <p:cNvSpPr txBox="1"/>
          <p:nvPr/>
        </p:nvSpPr>
        <p:spPr>
          <a:xfrm>
            <a:off x="502920" y="2194560"/>
            <a:ext cx="10972800" cy="1554480"/>
          </a:xfrm>
          <a:prstGeom prst="rect">
            <a:avLst/>
          </a:prstGeom>
          <a:noFill/>
        </p:spPr>
        <p:txBody>
          <a:bodyPr wrap="square" lIns="0" rIns="0" tIns="0" bIns="0" anchor="t">
            <a:spAutoFit/>
          </a:bodyPr>
          <a:lstStyle/>
          <a:p>
            <a:pPr algn="l"/>
            <a:r>
              <a:rPr sz="5200" b="1" i="0">
                <a:solidFill>
                  <a:srgbClr val="FFFFFF"/>
                </a:solidFill>
                <a:latin typeface="Inter"/>
              </a:rPr>
              <a:t>Kairo isn't a learning app. It learns you.</a:t>
            </a:r>
          </a:p>
        </p:txBody>
      </p:sp>
      <p:sp>
        <p:nvSpPr>
          <p:cNvPr id="8" name="Rectangle 7"/>
          <p:cNvSpPr/>
          <p:nvPr/>
        </p:nvSpPr>
        <p:spPr>
          <a:xfrm>
            <a:off x="548640" y="3931920"/>
            <a:ext cx="201168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297680"/>
            <a:ext cx="10515600" cy="1828800"/>
          </a:xfrm>
          <a:prstGeom prst="rect">
            <a:avLst/>
          </a:prstGeom>
          <a:noFill/>
        </p:spPr>
        <p:txBody>
          <a:bodyPr wrap="square" lIns="0" rIns="0" tIns="0" bIns="0" anchor="t">
            <a:spAutoFit/>
          </a:bodyPr>
          <a:lstStyle/>
          <a:p>
            <a:pPr algn="l"/>
            <a:r>
              <a:rPr sz="1700" b="0" i="0">
                <a:solidFill>
                  <a:srgbClr val="C1C1C8"/>
                </a:solidFill>
                <a:latin typeface="Inter"/>
              </a:rPr>
              <a:t>A memory-first AI tutor that watches what you ask, where you stumble, what you replay at 1 a.m. — then tutors you back with explanations only you needed. The longer you stay, the more it becomes only yours.</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PRODUCT</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03.</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Eleven systems. One mind.</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520440"/>
            <a:ext cx="10972800" cy="2926080"/>
          </a:xfrm>
          <a:prstGeom prst="rect">
            <a:avLst/>
          </a:prstGeom>
          <a:noFill/>
        </p:spPr>
        <p:txBody>
          <a:bodyPr wrap="square" lIns="0" rIns="0" tIns="0" bIns="0">
            <a:spAutoFit/>
          </a:bodyPr>
          <a:lstStyle/>
          <a:p>
            <a:pPr algn="l">
              <a:spcAft>
                <a:spcPts val="1200"/>
              </a:spcAft>
            </a:pPr>
            <a:r>
              <a:rPr sz="1450" b="1">
                <a:solidFill>
                  <a:srgbClr val="C4B5FD"/>
                </a:solidFill>
                <a:latin typeface="Inter"/>
              </a:rPr>
              <a:t>•  </a:t>
            </a:r>
            <a:r>
              <a:rPr sz="1450" b="1">
                <a:solidFill>
                  <a:srgbClr val="FFFFFF"/>
                </a:solidFill>
                <a:latin typeface="Inter"/>
              </a:rPr>
              <a:t>Solver</a:t>
            </a:r>
            <a:r>
              <a:rPr sz="1450">
                <a:solidFill>
                  <a:srgbClr val="C1C1C8"/>
                </a:solidFill>
                <a:latin typeface="Inter"/>
              </a:rPr>
              <a:t> — Any doubt, any subject — full explanation in 8 seconds with sourced images.</a:t>
            </a:r>
          </a:p>
          <a:p>
            <a:pPr algn="l">
              <a:spcAft>
                <a:spcPts val="1200"/>
              </a:spcAft>
            </a:pPr>
            <a:r>
              <a:rPr sz="1450" b="1">
                <a:solidFill>
                  <a:srgbClr val="C4B5FD"/>
                </a:solidFill>
                <a:latin typeface="Inter"/>
              </a:rPr>
              <a:t>•  </a:t>
            </a:r>
            <a:r>
              <a:rPr sz="1450" b="1">
                <a:solidFill>
                  <a:srgbClr val="FFFFFF"/>
                </a:solidFill>
                <a:latin typeface="Inter"/>
              </a:rPr>
              <a:t>Kairo OS</a:t>
            </a:r>
            <a:r>
              <a:rPr sz="1450">
                <a:solidFill>
                  <a:srgbClr val="C1C1C8"/>
                </a:solidFill>
                <a:latin typeface="Inter"/>
              </a:rPr>
              <a:t> — The Twin. Memory engine. Tracks what you've studied + forgotten + need next.</a:t>
            </a:r>
          </a:p>
          <a:p>
            <a:pPr algn="l">
              <a:spcAft>
                <a:spcPts val="1200"/>
              </a:spcAft>
            </a:pPr>
            <a:r>
              <a:rPr sz="1450" b="1">
                <a:solidFill>
                  <a:srgbClr val="C4B5FD"/>
                </a:solidFill>
                <a:latin typeface="Inter"/>
              </a:rPr>
              <a:t>•  </a:t>
            </a:r>
            <a:r>
              <a:rPr sz="1450" b="1">
                <a:solidFill>
                  <a:srgbClr val="FFFFFF"/>
                </a:solidFill>
                <a:latin typeface="Inter"/>
              </a:rPr>
              <a:t>Labs</a:t>
            </a:r>
            <a:r>
              <a:rPr sz="1450">
                <a:solidFill>
                  <a:srgbClr val="C1C1C8"/>
                </a:solidFill>
                <a:latin typeface="Inter"/>
              </a:rPr>
              <a:t> — Touchable 3D simulations — physics, chem, bio. Drag, pinch, learn.</a:t>
            </a:r>
          </a:p>
          <a:p>
            <a:pPr algn="l">
              <a:spcAft>
                <a:spcPts val="1200"/>
              </a:spcAft>
            </a:pPr>
            <a:r>
              <a:rPr sz="1450" b="1">
                <a:solidFill>
                  <a:srgbClr val="C4B5FD"/>
                </a:solidFill>
                <a:latin typeface="Inter"/>
              </a:rPr>
              <a:t>•  </a:t>
            </a:r>
            <a:r>
              <a:rPr sz="1450" b="1">
                <a:solidFill>
                  <a:srgbClr val="FFFFFF"/>
                </a:solidFill>
                <a:latin typeface="Inter"/>
              </a:rPr>
              <a:t>Voice tutor</a:t>
            </a:r>
            <a:r>
              <a:rPr sz="1450">
                <a:solidFill>
                  <a:srgbClr val="C1C1C8"/>
                </a:solidFill>
                <a:latin typeface="Inter"/>
              </a:rPr>
              <a:t> — Hold-to-speak. Hands-free, exam-night ready.</a:t>
            </a:r>
          </a:p>
          <a:p>
            <a:pPr algn="l">
              <a:spcAft>
                <a:spcPts val="1200"/>
              </a:spcAft>
            </a:pPr>
            <a:r>
              <a:rPr sz="1450" b="1">
                <a:solidFill>
                  <a:srgbClr val="C4B5FD"/>
                </a:solidFill>
                <a:latin typeface="Inter"/>
              </a:rPr>
              <a:t>•  </a:t>
            </a:r>
            <a:r>
              <a:rPr sz="1450" b="1">
                <a:solidFill>
                  <a:srgbClr val="FFFFFF"/>
                </a:solidFill>
                <a:latin typeface="Inter"/>
              </a:rPr>
              <a:t>Notebook · Concept Map · Predictor · Battle · Pomodoro · Camera · Adaptive Quiz</a:t>
            </a:r>
            <a:r>
              <a:rPr sz="1450">
                <a:solidFill>
                  <a:srgbClr val="C1C1C8"/>
                </a:solidFill>
                <a:latin typeface="Inter"/>
              </a:rPr>
              <a:t> — + a dozen more, all wired into the same Twin.</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TWIN</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04.</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Your data lives on YOUR device.</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3611880"/>
            <a:ext cx="5349240" cy="2606040"/>
          </a:xfrm>
          <a:prstGeom prst="roundRect">
            <a:avLst>
              <a:gd name="adj" fmla="val 4000"/>
            </a:avLst>
          </a:prstGeom>
          <a:solidFill>
            <a:srgbClr val="3B0764"/>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94760"/>
            <a:ext cx="4617720" cy="640080"/>
          </a:xfrm>
          <a:prstGeom prst="rect">
            <a:avLst/>
          </a:prstGeom>
          <a:noFill/>
        </p:spPr>
        <p:txBody>
          <a:bodyPr wrap="square" lIns="0" rIns="0" tIns="0" bIns="0" anchor="t">
            <a:spAutoFit/>
          </a:bodyPr>
          <a:lstStyle/>
          <a:p>
            <a:pPr algn="l"/>
            <a:r>
              <a:rPr sz="1800" b="1" i="0">
                <a:solidFill>
                  <a:srgbClr val="FFFFFF"/>
                </a:solidFill>
                <a:latin typeface="Inter"/>
              </a:rPr>
              <a:t>Local-first</a:t>
            </a:r>
          </a:p>
        </p:txBody>
      </p:sp>
      <p:sp>
        <p:nvSpPr>
          <p:cNvPr id="11" name="Rectangle 10"/>
          <p:cNvSpPr/>
          <p:nvPr/>
        </p:nvSpPr>
        <p:spPr>
          <a:xfrm>
            <a:off x="868680" y="4343400"/>
            <a:ext cx="50292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526280"/>
            <a:ext cx="4617720" cy="1828800"/>
          </a:xfrm>
          <a:prstGeom prst="rect">
            <a:avLst/>
          </a:prstGeom>
          <a:noFill/>
        </p:spPr>
        <p:txBody>
          <a:bodyPr wrap="square" lIns="0" rIns="0" tIns="0" bIns="0" anchor="t">
            <a:spAutoFit/>
          </a:bodyPr>
          <a:lstStyle/>
          <a:p>
            <a:pPr algn="l"/>
            <a:r>
              <a:rPr sz="1300" b="0" i="0">
                <a:solidFill>
                  <a:srgbClr val="C1C1C8"/>
                </a:solidFill>
                <a:latin typeface="Inter"/>
              </a:rPr>
              <a:t>Every flashcard, formula, focus session, voice prompt — all stored in your browser's local storage. Nothing leaves your device unless you sync.</a:t>
            </a:r>
          </a:p>
        </p:txBody>
      </p:sp>
      <p:sp>
        <p:nvSpPr>
          <p:cNvPr id="13" name="Rounded Rectangle 12"/>
          <p:cNvSpPr/>
          <p:nvPr/>
        </p:nvSpPr>
        <p:spPr>
          <a:xfrm>
            <a:off x="6263640" y="3611880"/>
            <a:ext cx="5349240" cy="2606040"/>
          </a:xfrm>
          <a:prstGeom prst="roundRect">
            <a:avLst>
              <a:gd name="adj" fmla="val 4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3794760"/>
            <a:ext cx="4617720" cy="640080"/>
          </a:xfrm>
          <a:prstGeom prst="rect">
            <a:avLst/>
          </a:prstGeom>
          <a:noFill/>
        </p:spPr>
        <p:txBody>
          <a:bodyPr wrap="square" lIns="0" rIns="0" tIns="0" bIns="0" anchor="t">
            <a:spAutoFit/>
          </a:bodyPr>
          <a:lstStyle/>
          <a:p>
            <a:pPr algn="l"/>
            <a:r>
              <a:rPr sz="1800" b="1" i="0">
                <a:solidFill>
                  <a:srgbClr val="FFFFFF"/>
                </a:solidFill>
                <a:latin typeface="Inter"/>
              </a:rPr>
              <a:t>Privacy by design</a:t>
            </a:r>
          </a:p>
        </p:txBody>
      </p:sp>
      <p:sp>
        <p:nvSpPr>
          <p:cNvPr id="15" name="Rectangle 14"/>
          <p:cNvSpPr/>
          <p:nvPr/>
        </p:nvSpPr>
        <p:spPr>
          <a:xfrm>
            <a:off x="6629400" y="4343400"/>
            <a:ext cx="50292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526280"/>
            <a:ext cx="4617720" cy="1828800"/>
          </a:xfrm>
          <a:prstGeom prst="rect">
            <a:avLst/>
          </a:prstGeom>
          <a:noFill/>
        </p:spPr>
        <p:txBody>
          <a:bodyPr wrap="square" lIns="0" rIns="0" tIns="0" bIns="0" anchor="t">
            <a:spAutoFit/>
          </a:bodyPr>
          <a:lstStyle/>
          <a:p>
            <a:pPr algn="l"/>
            <a:r>
              <a:rPr sz="1300" b="0" i="0">
                <a:solidFill>
                  <a:srgbClr val="C1C1C8"/>
                </a:solidFill>
                <a:latin typeface="Inter"/>
              </a:rPr>
              <a:t>When you switch devices, Kairo encrypts the whole Twin, ships it across, and wipes the cloud copy. The server is a transit lane, not a database.</a:t>
            </a:r>
          </a:p>
        </p:txBody>
      </p:sp>
      <p:sp>
        <p:nvSpPr>
          <p:cNvPr id="17" name="TextBox 16"/>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8" name="TextBox 17"/>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WHAT'S SHIPPED</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05.</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Built and live.</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3611880"/>
            <a:ext cx="2697480" cy="2240280"/>
          </a:xfrm>
          <a:prstGeom prst="roundRect">
            <a:avLst>
              <a:gd name="adj" fmla="val 5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977640"/>
            <a:ext cx="2240280" cy="1097280"/>
          </a:xfrm>
          <a:prstGeom prst="rect">
            <a:avLst/>
          </a:prstGeom>
          <a:noFill/>
        </p:spPr>
        <p:txBody>
          <a:bodyPr wrap="square" lIns="0" rIns="0" tIns="0" bIns="0" anchor="t">
            <a:spAutoFit/>
          </a:bodyPr>
          <a:lstStyle/>
          <a:p>
            <a:pPr algn="l"/>
            <a:r>
              <a:rPr sz="4800" b="1" i="0">
                <a:solidFill>
                  <a:srgbClr val="FFFFFF"/>
                </a:solidFill>
                <a:latin typeface="Inter"/>
              </a:rPr>
              <a:t>45+</a:t>
            </a:r>
          </a:p>
        </p:txBody>
      </p:sp>
      <p:sp>
        <p:nvSpPr>
          <p:cNvPr id="11" name="Rectangle 10"/>
          <p:cNvSpPr/>
          <p:nvPr/>
        </p:nvSpPr>
        <p:spPr>
          <a:xfrm>
            <a:off x="731520" y="5074920"/>
            <a:ext cx="54864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212080"/>
            <a:ext cx="2240280" cy="548640"/>
          </a:xfrm>
          <a:prstGeom prst="rect">
            <a:avLst/>
          </a:prstGeom>
          <a:noFill/>
        </p:spPr>
        <p:txBody>
          <a:bodyPr wrap="square" lIns="0" rIns="0" tIns="0" bIns="0" anchor="t">
            <a:spAutoFit/>
          </a:bodyPr>
          <a:lstStyle/>
          <a:p>
            <a:pPr algn="l"/>
            <a:r>
              <a:rPr sz="1100" b="0" i="0">
                <a:solidFill>
                  <a:srgbClr val="C4B5FD"/>
                </a:solidFill>
                <a:latin typeface="Inter"/>
              </a:rPr>
              <a:t>features in production</a:t>
            </a:r>
          </a:p>
        </p:txBody>
      </p:sp>
      <p:sp>
        <p:nvSpPr>
          <p:cNvPr id="13" name="Rounded Rectangle 12"/>
          <p:cNvSpPr/>
          <p:nvPr/>
        </p:nvSpPr>
        <p:spPr>
          <a:xfrm>
            <a:off x="3291840" y="3611880"/>
            <a:ext cx="2697480" cy="2240280"/>
          </a:xfrm>
          <a:prstGeom prst="roundRect">
            <a:avLst>
              <a:gd name="adj" fmla="val 5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3977640"/>
            <a:ext cx="2240280" cy="1097280"/>
          </a:xfrm>
          <a:prstGeom prst="rect">
            <a:avLst/>
          </a:prstGeom>
          <a:noFill/>
        </p:spPr>
        <p:txBody>
          <a:bodyPr wrap="square" lIns="0" rIns="0" tIns="0" bIns="0" anchor="t">
            <a:spAutoFit/>
          </a:bodyPr>
          <a:lstStyle/>
          <a:p>
            <a:pPr algn="l"/>
            <a:r>
              <a:rPr sz="4800" b="1" i="0">
                <a:solidFill>
                  <a:srgbClr val="FFFFFF"/>
                </a:solidFill>
                <a:latin typeface="Inter"/>
              </a:rPr>
              <a:t>27</a:t>
            </a:r>
          </a:p>
        </p:txBody>
      </p:sp>
      <p:sp>
        <p:nvSpPr>
          <p:cNvPr id="15" name="Rectangle 14"/>
          <p:cNvSpPr/>
          <p:nvPr/>
        </p:nvSpPr>
        <p:spPr>
          <a:xfrm>
            <a:off x="3520440" y="5074920"/>
            <a:ext cx="54864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0440" y="5212080"/>
            <a:ext cx="2240280" cy="548640"/>
          </a:xfrm>
          <a:prstGeom prst="rect">
            <a:avLst/>
          </a:prstGeom>
          <a:noFill/>
        </p:spPr>
        <p:txBody>
          <a:bodyPr wrap="square" lIns="0" rIns="0" tIns="0" bIns="0" anchor="t">
            <a:spAutoFit/>
          </a:bodyPr>
          <a:lstStyle/>
          <a:p>
            <a:pPr algn="l"/>
            <a:r>
              <a:rPr sz="1100" b="0" i="0">
                <a:solidFill>
                  <a:srgbClr val="C4B5FD"/>
                </a:solidFill>
                <a:latin typeface="Inter"/>
              </a:rPr>
              <a:t>3D Labs live</a:t>
            </a:r>
          </a:p>
        </p:txBody>
      </p:sp>
      <p:sp>
        <p:nvSpPr>
          <p:cNvPr id="17" name="Rounded Rectangle 16"/>
          <p:cNvSpPr/>
          <p:nvPr/>
        </p:nvSpPr>
        <p:spPr>
          <a:xfrm>
            <a:off x="6080760" y="3611880"/>
            <a:ext cx="2697480" cy="2240280"/>
          </a:xfrm>
          <a:prstGeom prst="roundRect">
            <a:avLst>
              <a:gd name="adj" fmla="val 5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3977640"/>
            <a:ext cx="2240280" cy="1097280"/>
          </a:xfrm>
          <a:prstGeom prst="rect">
            <a:avLst/>
          </a:prstGeom>
          <a:noFill/>
        </p:spPr>
        <p:txBody>
          <a:bodyPr wrap="square" lIns="0" rIns="0" tIns="0" bIns="0" anchor="t">
            <a:spAutoFit/>
          </a:bodyPr>
          <a:lstStyle/>
          <a:p>
            <a:pPr algn="l"/>
            <a:r>
              <a:rPr sz="4800" b="1" i="0">
                <a:solidFill>
                  <a:srgbClr val="FFFFFF"/>
                </a:solidFill>
                <a:latin typeface="Inter"/>
              </a:rPr>
              <a:t>8s</a:t>
            </a:r>
          </a:p>
        </p:txBody>
      </p:sp>
      <p:sp>
        <p:nvSpPr>
          <p:cNvPr id="19" name="Rectangle 18"/>
          <p:cNvSpPr/>
          <p:nvPr/>
        </p:nvSpPr>
        <p:spPr>
          <a:xfrm>
            <a:off x="6309360" y="5074920"/>
            <a:ext cx="54864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5212080"/>
            <a:ext cx="2240280" cy="548640"/>
          </a:xfrm>
          <a:prstGeom prst="rect">
            <a:avLst/>
          </a:prstGeom>
          <a:noFill/>
        </p:spPr>
        <p:txBody>
          <a:bodyPr wrap="square" lIns="0" rIns="0" tIns="0" bIns="0" anchor="t">
            <a:spAutoFit/>
          </a:bodyPr>
          <a:lstStyle/>
          <a:p>
            <a:pPr algn="l"/>
            <a:r>
              <a:rPr sz="1100" b="0" i="0">
                <a:solidFill>
                  <a:srgbClr val="C4B5FD"/>
                </a:solidFill>
                <a:latin typeface="Inter"/>
              </a:rPr>
              <a:t>avg. Solver answer</a:t>
            </a:r>
          </a:p>
        </p:txBody>
      </p:sp>
      <p:sp>
        <p:nvSpPr>
          <p:cNvPr id="21" name="Rounded Rectangle 20"/>
          <p:cNvSpPr/>
          <p:nvPr/>
        </p:nvSpPr>
        <p:spPr>
          <a:xfrm>
            <a:off x="8869680" y="3611880"/>
            <a:ext cx="2697480" cy="2240280"/>
          </a:xfrm>
          <a:prstGeom prst="roundRect">
            <a:avLst>
              <a:gd name="adj" fmla="val 5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3977640"/>
            <a:ext cx="2240280" cy="1097280"/>
          </a:xfrm>
          <a:prstGeom prst="rect">
            <a:avLst/>
          </a:prstGeom>
          <a:noFill/>
        </p:spPr>
        <p:txBody>
          <a:bodyPr wrap="square" lIns="0" rIns="0" tIns="0" bIns="0" anchor="t">
            <a:spAutoFit/>
          </a:bodyPr>
          <a:lstStyle/>
          <a:p>
            <a:pPr algn="l"/>
            <a:r>
              <a:rPr sz="4800" b="1" i="0">
                <a:solidFill>
                  <a:srgbClr val="FFFFFF"/>
                </a:solidFill>
                <a:latin typeface="Inter"/>
              </a:rPr>
              <a:t>0</a:t>
            </a:r>
          </a:p>
        </p:txBody>
      </p:sp>
      <p:sp>
        <p:nvSpPr>
          <p:cNvPr id="23" name="Rectangle 22"/>
          <p:cNvSpPr/>
          <p:nvPr/>
        </p:nvSpPr>
        <p:spPr>
          <a:xfrm>
            <a:off x="9098280" y="5074920"/>
            <a:ext cx="548640" cy="254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5212080"/>
            <a:ext cx="2240280" cy="548640"/>
          </a:xfrm>
          <a:prstGeom prst="rect">
            <a:avLst/>
          </a:prstGeom>
          <a:noFill/>
        </p:spPr>
        <p:txBody>
          <a:bodyPr wrap="square" lIns="0" rIns="0" tIns="0" bIns="0" anchor="t">
            <a:spAutoFit/>
          </a:bodyPr>
          <a:lstStyle/>
          <a:p>
            <a:pPr algn="l"/>
            <a:r>
              <a:rPr sz="1100" b="0" i="0">
                <a:solidFill>
                  <a:srgbClr val="C4B5FD"/>
                </a:solidFill>
                <a:latin typeface="Inter"/>
              </a:rPr>
              <a:t>cost per student</a:t>
            </a:r>
          </a:p>
        </p:txBody>
      </p:sp>
      <p:sp>
        <p:nvSpPr>
          <p:cNvPr id="25" name="TextBox 24"/>
          <p:cNvSpPr txBox="1"/>
          <p:nvPr/>
        </p:nvSpPr>
        <p:spPr>
          <a:xfrm>
            <a:off x="502920" y="6172200"/>
            <a:ext cx="10972800" cy="365760"/>
          </a:xfrm>
          <a:prstGeom prst="rect">
            <a:avLst/>
          </a:prstGeom>
          <a:noFill/>
        </p:spPr>
        <p:txBody>
          <a:bodyPr wrap="square" lIns="0" rIns="0" tIns="0" bIns="0" anchor="t">
            <a:spAutoFit/>
          </a:bodyPr>
          <a:lstStyle/>
          <a:p>
            <a:pPr algn="l"/>
            <a:r>
              <a:rPr sz="1100" b="0" i="1">
                <a:solidFill>
                  <a:srgbClr val="8A8A96"/>
                </a:solidFill>
                <a:latin typeface="Inter"/>
              </a:rPr>
              <a:t>All shipped at https://kairo-daily-edu.vercel.app — open the live status page at /status.</a:t>
            </a:r>
          </a:p>
        </p:txBody>
      </p:sp>
      <p:sp>
        <p:nvSpPr>
          <p:cNvPr id="26" name="TextBox 25"/>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27" name="TextBox 26"/>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FOUNDER</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06.</a:t>
            </a:r>
          </a:p>
        </p:txBody>
      </p:sp>
      <p:sp>
        <p:nvSpPr>
          <p:cNvPr id="7" name="TextBox 6"/>
          <p:cNvSpPr txBox="1"/>
          <p:nvPr/>
        </p:nvSpPr>
        <p:spPr>
          <a:xfrm>
            <a:off x="502920" y="2194560"/>
            <a:ext cx="10972800" cy="1554480"/>
          </a:xfrm>
          <a:prstGeom prst="rect">
            <a:avLst/>
          </a:prstGeom>
          <a:noFill/>
        </p:spPr>
        <p:txBody>
          <a:bodyPr wrap="square" lIns="0" rIns="0" tIns="0" bIns="0" anchor="t">
            <a:spAutoFit/>
          </a:bodyPr>
          <a:lstStyle/>
          <a:p>
            <a:pPr algn="l"/>
            <a:r>
              <a:rPr sz="5200" b="1" i="0">
                <a:solidFill>
                  <a:srgbClr val="FFFFFF"/>
                </a:solidFill>
                <a:latin typeface="Inter"/>
              </a:rPr>
              <a:t>Built by a 13-year-old in Chennai.</a:t>
            </a:r>
          </a:p>
        </p:txBody>
      </p:sp>
      <p:sp>
        <p:nvSpPr>
          <p:cNvPr id="8" name="Rectangle 7"/>
          <p:cNvSpPr/>
          <p:nvPr/>
        </p:nvSpPr>
        <p:spPr>
          <a:xfrm>
            <a:off x="548640" y="3931920"/>
            <a:ext cx="201168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297680"/>
            <a:ext cx="10515600" cy="1828800"/>
          </a:xfrm>
          <a:prstGeom prst="rect">
            <a:avLst/>
          </a:prstGeom>
          <a:noFill/>
        </p:spPr>
        <p:txBody>
          <a:bodyPr wrap="square" lIns="0" rIns="0" tIns="0" bIns="0" anchor="t">
            <a:spAutoFit/>
          </a:bodyPr>
          <a:lstStyle/>
          <a:p>
            <a:pPr algn="l"/>
            <a:r>
              <a:rPr sz="1700" b="0" i="0">
                <a:solidFill>
                  <a:srgbClr val="C1C1C8"/>
                </a:solidFill>
                <a:latin typeface="Inter"/>
              </a:rPr>
              <a:t>Darshan is in Class 9 at a CBSE school in India. He started Kairo because none of the apps he was given to study with knew anything about him. He spent four months teaching himself React, TypeScript, Express, Supabase, three.js, and enough Framer Motion to make diagrams move — then shipped Kairo to the web.</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A NOTE FROM THE EDITOR</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07.</a:t>
            </a:r>
          </a:p>
        </p:txBody>
      </p:sp>
      <p:sp>
        <p:nvSpPr>
          <p:cNvPr id="7" name="TextBox 6"/>
          <p:cNvSpPr txBox="1"/>
          <p:nvPr/>
        </p:nvSpPr>
        <p:spPr>
          <a:xfrm>
            <a:off x="548640" y="2377440"/>
            <a:ext cx="10972800" cy="457200"/>
          </a:xfrm>
          <a:prstGeom prst="rect">
            <a:avLst/>
          </a:prstGeom>
          <a:noFill/>
        </p:spPr>
        <p:txBody>
          <a:bodyPr wrap="square" lIns="0" rIns="0" tIns="0" bIns="0" anchor="t">
            <a:spAutoFit/>
          </a:bodyPr>
          <a:lstStyle/>
          <a:p>
            <a:pPr algn="l"/>
            <a:r>
              <a:rPr sz="6400" b="1" i="0">
                <a:solidFill>
                  <a:srgbClr val="A78BFA"/>
                </a:solidFill>
                <a:latin typeface="Inter"/>
              </a:rPr>
              <a:t>“</a:t>
            </a:r>
          </a:p>
        </p:txBody>
      </p:sp>
      <p:sp>
        <p:nvSpPr>
          <p:cNvPr id="8" name="TextBox 7"/>
          <p:cNvSpPr txBox="1"/>
          <p:nvPr/>
        </p:nvSpPr>
        <p:spPr>
          <a:xfrm>
            <a:off x="1188720" y="2651760"/>
            <a:ext cx="10058400" cy="2286000"/>
          </a:xfrm>
          <a:prstGeom prst="rect">
            <a:avLst/>
          </a:prstGeom>
          <a:noFill/>
        </p:spPr>
        <p:txBody>
          <a:bodyPr wrap="square" lIns="0" rIns="0" tIns="0" bIns="0" anchor="t">
            <a:spAutoFit/>
          </a:bodyPr>
          <a:lstStyle/>
          <a:p>
            <a:pPr algn="l"/>
            <a:r>
              <a:rPr sz="3000" b="0" i="1">
                <a:solidFill>
                  <a:srgbClr val="FFFFFF"/>
                </a:solidFill>
                <a:latin typeface="Inter"/>
              </a:rPr>
              <a:t>I wasn't trying to build a startup. I was trying to fix the part of school that nobody wanted to fix.</a:t>
            </a:r>
          </a:p>
        </p:txBody>
      </p:sp>
      <p:sp>
        <p:nvSpPr>
          <p:cNvPr id="9" name="TextBox 8"/>
          <p:cNvSpPr txBox="1"/>
          <p:nvPr/>
        </p:nvSpPr>
        <p:spPr>
          <a:xfrm>
            <a:off x="1188720" y="5212080"/>
            <a:ext cx="10058400" cy="457200"/>
          </a:xfrm>
          <a:prstGeom prst="rect">
            <a:avLst/>
          </a:prstGeom>
          <a:noFill/>
        </p:spPr>
        <p:txBody>
          <a:bodyPr wrap="square" lIns="0" rIns="0" tIns="0" bIns="0" anchor="t">
            <a:spAutoFit/>
          </a:bodyPr>
          <a:lstStyle/>
          <a:p>
            <a:pPr algn="l"/>
            <a:r>
              <a:rPr sz="1200" b="1" i="0">
                <a:solidFill>
                  <a:srgbClr val="C4B5FD"/>
                </a:solidFill>
                <a:latin typeface="Inter"/>
              </a:rPr>
              <a:t>— DARSHAN  ·  FOUNDER, KAIRO</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WHY IT'S FREE</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08.</a:t>
            </a:r>
          </a:p>
        </p:txBody>
      </p:sp>
      <p:sp>
        <p:nvSpPr>
          <p:cNvPr id="7" name="TextBox 6"/>
          <p:cNvSpPr txBox="1"/>
          <p:nvPr/>
        </p:nvSpPr>
        <p:spPr>
          <a:xfrm>
            <a:off x="502920" y="2194560"/>
            <a:ext cx="10972800" cy="1554480"/>
          </a:xfrm>
          <a:prstGeom prst="rect">
            <a:avLst/>
          </a:prstGeom>
          <a:noFill/>
        </p:spPr>
        <p:txBody>
          <a:bodyPr wrap="square" lIns="0" rIns="0" tIns="0" bIns="0" anchor="t">
            <a:spAutoFit/>
          </a:bodyPr>
          <a:lstStyle/>
          <a:p>
            <a:pPr algn="l"/>
            <a:r>
              <a:rPr sz="5200" b="1" i="0">
                <a:solidFill>
                  <a:srgbClr val="FFFFFF"/>
                </a:solidFill>
                <a:latin typeface="Inter"/>
              </a:rPr>
              <a:t>Kairo is free, on purpose.</a:t>
            </a:r>
          </a:p>
        </p:txBody>
      </p:sp>
      <p:sp>
        <p:nvSpPr>
          <p:cNvPr id="8" name="Rectangle 7"/>
          <p:cNvSpPr/>
          <p:nvPr/>
        </p:nvSpPr>
        <p:spPr>
          <a:xfrm>
            <a:off x="548640" y="3931920"/>
            <a:ext cx="201168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297680"/>
            <a:ext cx="10515600" cy="1828800"/>
          </a:xfrm>
          <a:prstGeom prst="rect">
            <a:avLst/>
          </a:prstGeom>
          <a:noFill/>
        </p:spPr>
        <p:txBody>
          <a:bodyPr wrap="square" lIns="0" rIns="0" tIns="0" bIns="0" anchor="t">
            <a:spAutoFit/>
          </a:bodyPr>
          <a:lstStyle/>
          <a:p>
            <a:pPr algn="l"/>
            <a:r>
              <a:rPr sz="1700" b="0" i="0">
                <a:solidFill>
                  <a:srgbClr val="C1C1C8"/>
                </a:solidFill>
                <a:latin typeface="Inter"/>
              </a:rPr>
              <a:t>The students who need Kairo most are the ones whose families can't pay for tutors and don't speak the language of the coaching centres. If Kairo costs money, it stops being for them. Schools that want the whole platform can pay later — only after their students are already using it daily.</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UNDER THE HOOD</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09.</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A real software stack.</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520440"/>
            <a:ext cx="10972800" cy="2926080"/>
          </a:xfrm>
          <a:prstGeom prst="rect">
            <a:avLst/>
          </a:prstGeom>
          <a:noFill/>
        </p:spPr>
        <p:txBody>
          <a:bodyPr wrap="square" lIns="0" rIns="0" tIns="0" bIns="0">
            <a:spAutoFit/>
          </a:bodyPr>
          <a:lstStyle/>
          <a:p>
            <a:pPr algn="l">
              <a:spcAft>
                <a:spcPts val="1200"/>
              </a:spcAft>
            </a:pPr>
            <a:r>
              <a:rPr sz="1450" b="1">
                <a:solidFill>
                  <a:srgbClr val="C4B5FD"/>
                </a:solidFill>
                <a:latin typeface="Inter"/>
              </a:rPr>
              <a:t>•  </a:t>
            </a:r>
            <a:r>
              <a:rPr sz="1450" b="1">
                <a:solidFill>
                  <a:srgbClr val="FFFFFF"/>
                </a:solidFill>
                <a:latin typeface="Inter"/>
              </a:rPr>
              <a:t>Front-end</a:t>
            </a:r>
            <a:r>
              <a:rPr sz="1450">
                <a:solidFill>
                  <a:srgbClr val="C1C1C8"/>
                </a:solidFill>
                <a:latin typeface="Inter"/>
              </a:rPr>
              <a:t> — React + TypeScript + Vite. Framer Motion for every transition. three.js for the 3D labs.</a:t>
            </a:r>
          </a:p>
          <a:p>
            <a:pPr algn="l">
              <a:spcAft>
                <a:spcPts val="1200"/>
              </a:spcAft>
            </a:pPr>
            <a:r>
              <a:rPr sz="1450" b="1">
                <a:solidFill>
                  <a:srgbClr val="C4B5FD"/>
                </a:solidFill>
                <a:latin typeface="Inter"/>
              </a:rPr>
              <a:t>•  </a:t>
            </a:r>
            <a:r>
              <a:rPr sz="1450" b="1">
                <a:solidFill>
                  <a:srgbClr val="FFFFFF"/>
                </a:solidFill>
                <a:latin typeface="Inter"/>
              </a:rPr>
              <a:t>Server</a:t>
            </a:r>
            <a:r>
              <a:rPr sz="1450">
                <a:solidFill>
                  <a:srgbClr val="C1C1C8"/>
                </a:solidFill>
                <a:latin typeface="Inter"/>
              </a:rPr>
              <a:t> — Express on Vercel. Multi-model AI race across OpenRouter + Groq + Wikipedia fallback.</a:t>
            </a:r>
          </a:p>
          <a:p>
            <a:pPr algn="l">
              <a:spcAft>
                <a:spcPts val="1200"/>
              </a:spcAft>
            </a:pPr>
            <a:r>
              <a:rPr sz="1450" b="1">
                <a:solidFill>
                  <a:srgbClr val="C4B5FD"/>
                </a:solidFill>
                <a:latin typeface="Inter"/>
              </a:rPr>
              <a:t>•  </a:t>
            </a:r>
            <a:r>
              <a:rPr sz="1450" b="1">
                <a:solidFill>
                  <a:srgbClr val="FFFFFF"/>
                </a:solidFill>
                <a:latin typeface="Inter"/>
              </a:rPr>
              <a:t>Database</a:t>
            </a:r>
            <a:r>
              <a:rPr sz="1450">
                <a:solidFill>
                  <a:srgbClr val="C1C1C8"/>
                </a:solidFill>
                <a:latin typeface="Inter"/>
              </a:rPr>
              <a:t> — Supabase (Postgres + auth + storage). Local-first Twin in browser localStorage.</a:t>
            </a:r>
          </a:p>
          <a:p>
            <a:pPr algn="l">
              <a:spcAft>
                <a:spcPts val="1200"/>
              </a:spcAft>
            </a:pPr>
            <a:r>
              <a:rPr sz="1450" b="1">
                <a:solidFill>
                  <a:srgbClr val="C4B5FD"/>
                </a:solidFill>
                <a:latin typeface="Inter"/>
              </a:rPr>
              <a:t>•  </a:t>
            </a:r>
            <a:r>
              <a:rPr sz="1450" b="1">
                <a:solidFill>
                  <a:srgbClr val="FFFFFF"/>
                </a:solidFill>
                <a:latin typeface="Inter"/>
              </a:rPr>
              <a:t>Email</a:t>
            </a:r>
            <a:r>
              <a:rPr sz="1450">
                <a:solidFill>
                  <a:srgbClr val="C1C1C8"/>
                </a:solidFill>
                <a:latin typeface="Inter"/>
              </a:rPr>
              <a:t> — Gmail SMTP via Nodemailer for OTP + transactional. Brevo/Resend fallback ready.</a:t>
            </a:r>
          </a:p>
          <a:p>
            <a:pPr algn="l">
              <a:spcAft>
                <a:spcPts val="1200"/>
              </a:spcAft>
            </a:pPr>
            <a:r>
              <a:rPr sz="1450" b="1">
                <a:solidFill>
                  <a:srgbClr val="C4B5FD"/>
                </a:solidFill>
                <a:latin typeface="Inter"/>
              </a:rPr>
              <a:t>•  </a:t>
            </a:r>
            <a:r>
              <a:rPr sz="1450" b="1">
                <a:solidFill>
                  <a:srgbClr val="FFFFFF"/>
                </a:solidFill>
                <a:latin typeface="Inter"/>
              </a:rPr>
              <a:t>Deploy</a:t>
            </a:r>
            <a:r>
              <a:rPr sz="1450">
                <a:solidFill>
                  <a:srgbClr val="C1C1C8"/>
                </a:solidFill>
                <a:latin typeface="Inter"/>
              </a:rPr>
              <a:t> — Auto-deploy on git push. Public status at /status with live latency + service health.</a:t>
            </a:r>
          </a:p>
        </p:txBody>
      </p:sp>
      <p:sp>
        <p:nvSpPr>
          <p:cNvPr id="10" name="TextBox 9"/>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1" name="TextBox 10"/>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457200"/>
            <a:ext cx="2194560" cy="329184"/>
          </a:xfrm>
          <a:prstGeom prst="roundRect">
            <a:avLst>
              <a:gd name="adj" fmla="val 50000"/>
            </a:avLst>
          </a:prstGeom>
          <a:solidFill>
            <a:srgbClr val="14141F"/>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ctr"/>
            <a:r>
              <a:rPr sz="1100" b="1">
                <a:solidFill>
                  <a:srgbClr val="C4B5FD"/>
                </a:solidFill>
                <a:latin typeface="Inter"/>
              </a:rPr>
              <a:t>THE ASK</a:t>
            </a:r>
          </a:p>
        </p:txBody>
      </p:sp>
      <p:sp>
        <p:nvSpPr>
          <p:cNvPr id="6" name="TextBox 5"/>
          <p:cNvSpPr txBox="1"/>
          <p:nvPr/>
        </p:nvSpPr>
        <p:spPr>
          <a:xfrm>
            <a:off x="502920" y="960120"/>
            <a:ext cx="1828800" cy="548640"/>
          </a:xfrm>
          <a:prstGeom prst="rect">
            <a:avLst/>
          </a:prstGeom>
          <a:noFill/>
        </p:spPr>
        <p:txBody>
          <a:bodyPr wrap="square" lIns="0" rIns="0" tIns="0" bIns="0" anchor="t">
            <a:spAutoFit/>
          </a:bodyPr>
          <a:lstStyle/>
          <a:p>
            <a:pPr algn="l"/>
            <a:r>
              <a:rPr sz="4400" b="1" i="0">
                <a:solidFill>
                  <a:srgbClr val="A78BFA"/>
                </a:solidFill>
                <a:latin typeface="Inter"/>
              </a:rPr>
              <a:t>10.</a:t>
            </a:r>
          </a:p>
        </p:txBody>
      </p:sp>
      <p:sp>
        <p:nvSpPr>
          <p:cNvPr id="7" name="TextBox 6"/>
          <p:cNvSpPr txBox="1"/>
          <p:nvPr/>
        </p:nvSpPr>
        <p:spPr>
          <a:xfrm>
            <a:off x="502920" y="2011680"/>
            <a:ext cx="10972800" cy="1097280"/>
          </a:xfrm>
          <a:prstGeom prst="rect">
            <a:avLst/>
          </a:prstGeom>
          <a:noFill/>
        </p:spPr>
        <p:txBody>
          <a:bodyPr wrap="square" lIns="0" rIns="0" tIns="0" bIns="0" anchor="t">
            <a:spAutoFit/>
          </a:bodyPr>
          <a:lstStyle/>
          <a:p>
            <a:pPr algn="l"/>
            <a:r>
              <a:rPr sz="4000" b="1" i="0">
                <a:solidFill>
                  <a:srgbClr val="FFFFFF"/>
                </a:solidFill>
                <a:latin typeface="Inter"/>
              </a:rPr>
              <a:t>Build with us.</a:t>
            </a:r>
          </a:p>
        </p:txBody>
      </p:sp>
      <p:sp>
        <p:nvSpPr>
          <p:cNvPr id="8" name="Rectangle 7"/>
          <p:cNvSpPr/>
          <p:nvPr/>
        </p:nvSpPr>
        <p:spPr>
          <a:xfrm>
            <a:off x="548640" y="315468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520440"/>
            <a:ext cx="10972800" cy="2926080"/>
          </a:xfrm>
          <a:prstGeom prst="rect">
            <a:avLst/>
          </a:prstGeom>
          <a:noFill/>
        </p:spPr>
        <p:txBody>
          <a:bodyPr wrap="square" lIns="0" rIns="0" tIns="0" bIns="0">
            <a:spAutoFit/>
          </a:bodyPr>
          <a:lstStyle/>
          <a:p>
            <a:pPr algn="l">
              <a:spcAft>
                <a:spcPts val="1200"/>
              </a:spcAft>
            </a:pPr>
            <a:r>
              <a:rPr sz="1450" b="1">
                <a:solidFill>
                  <a:srgbClr val="C4B5FD"/>
                </a:solidFill>
                <a:latin typeface="Inter"/>
              </a:rPr>
              <a:t>•  </a:t>
            </a:r>
            <a:r>
              <a:rPr sz="1450" b="1">
                <a:solidFill>
                  <a:srgbClr val="FFFFFF"/>
                </a:solidFill>
                <a:latin typeface="Inter"/>
              </a:rPr>
              <a:t>Builders</a:t>
            </a:r>
            <a:r>
              <a:rPr sz="1450">
                <a:solidFill>
                  <a:srgbClr val="C1C1C8"/>
                </a:solidFill>
                <a:latin typeface="Inter"/>
              </a:rPr>
              <a:t> — Designers, engineers, inventors — volunteer or equity. Remote. Async. Credit on every ship.</a:t>
            </a:r>
          </a:p>
          <a:p>
            <a:pPr algn="l">
              <a:spcAft>
                <a:spcPts val="1200"/>
              </a:spcAft>
            </a:pPr>
            <a:r>
              <a:rPr sz="1450" b="1">
                <a:solidFill>
                  <a:srgbClr val="C4B5FD"/>
                </a:solidFill>
                <a:latin typeface="Inter"/>
              </a:rPr>
              <a:t>•  </a:t>
            </a:r>
            <a:r>
              <a:rPr sz="1450" b="1">
                <a:solidFill>
                  <a:srgbClr val="FFFFFF"/>
                </a:solidFill>
                <a:latin typeface="Inter"/>
              </a:rPr>
              <a:t>Schools</a:t>
            </a:r>
            <a:r>
              <a:rPr sz="1450">
                <a:solidFill>
                  <a:srgbClr val="C1C1C8"/>
                </a:solidFill>
                <a:latin typeface="Inter"/>
              </a:rPr>
              <a:t> — Sign up one class. Watch what happens. We onboard, no setup fee.</a:t>
            </a:r>
          </a:p>
          <a:p>
            <a:pPr algn="l">
              <a:spcAft>
                <a:spcPts val="1200"/>
              </a:spcAft>
            </a:pPr>
            <a:r>
              <a:rPr sz="1450" b="1">
                <a:solidFill>
                  <a:srgbClr val="C4B5FD"/>
                </a:solidFill>
                <a:latin typeface="Inter"/>
              </a:rPr>
              <a:t>•  </a:t>
            </a:r>
            <a:r>
              <a:rPr sz="1450" b="1">
                <a:solidFill>
                  <a:srgbClr val="FFFFFF"/>
                </a:solidFill>
                <a:latin typeface="Inter"/>
              </a:rPr>
              <a:t>Mentors</a:t>
            </a:r>
            <a:r>
              <a:rPr sz="1450">
                <a:solidFill>
                  <a:srgbClr val="C1C1C8"/>
                </a:solidFill>
                <a:latin typeface="Inter"/>
              </a:rPr>
              <a:t> — A founder who's shipped at scale. Thirty minutes a month is enough.</a:t>
            </a:r>
          </a:p>
          <a:p>
            <a:pPr algn="l">
              <a:spcAft>
                <a:spcPts val="1200"/>
              </a:spcAft>
            </a:pPr>
            <a:r>
              <a:rPr sz="1450" b="1">
                <a:solidFill>
                  <a:srgbClr val="C4B5FD"/>
                </a:solidFill>
                <a:latin typeface="Inter"/>
              </a:rPr>
              <a:t>•  </a:t>
            </a:r>
            <a:r>
              <a:rPr sz="1450" b="1">
                <a:solidFill>
                  <a:srgbClr val="FFFFFF"/>
                </a:solidFill>
                <a:latin typeface="Inter"/>
              </a:rPr>
              <a:t>Sponsors</a:t>
            </a:r>
            <a:r>
              <a:rPr sz="1450">
                <a:solidFill>
                  <a:srgbClr val="C1C1C8"/>
                </a:solidFill>
                <a:latin typeface="Inter"/>
              </a:rPr>
              <a:t> — Cover Vercel Pro + Supabase Pro + OpenRouter credits (~$50/mo). Scales Kairo to 3000 daily users.</a:t>
            </a:r>
          </a:p>
        </p:txBody>
      </p:sp>
      <p:sp>
        <p:nvSpPr>
          <p:cNvPr id="10" name="TextBox 9"/>
          <p:cNvSpPr txBox="1"/>
          <p:nvPr/>
        </p:nvSpPr>
        <p:spPr>
          <a:xfrm>
            <a:off x="548640" y="6263640"/>
            <a:ext cx="10972800" cy="274320"/>
          </a:xfrm>
          <a:prstGeom prst="rect">
            <a:avLst/>
          </a:prstGeom>
          <a:noFill/>
        </p:spPr>
        <p:txBody>
          <a:bodyPr wrap="square" lIns="0" rIns="0" tIns="0" bIns="0" anchor="t">
            <a:spAutoFit/>
          </a:bodyPr>
          <a:lstStyle/>
          <a:p>
            <a:pPr algn="l"/>
            <a:r>
              <a:rPr sz="1000" b="0" i="0">
                <a:solidFill>
                  <a:srgbClr val="5A5A66"/>
                </a:solidFill>
                <a:latin typeface="Inter"/>
              </a:rPr>
              <a:t>email: quro.cor@gmail.com   ·   subject: I'LL BUILD</a:t>
            </a:r>
          </a:p>
        </p:txBody>
      </p:sp>
      <p:sp>
        <p:nvSpPr>
          <p:cNvPr id="11" name="TextBox 10"/>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2" name="TextBox 11"/>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6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828800" y="-1828800"/>
            <a:ext cx="5486400" cy="5486400"/>
          </a:xfrm>
          <a:prstGeom prst="ellipse">
            <a:avLst/>
          </a:prstGeom>
          <a:solidFill>
            <a:srgbClr val="5B21B6">
              <a:alpha val="9411"/>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572000"/>
            <a:ext cx="5486400" cy="5486400"/>
          </a:xfrm>
          <a:prstGeom prst="ellipse">
            <a:avLst/>
          </a:prstGeom>
          <a:solidFill>
            <a:srgbClr val="7C3AED">
              <a:alpha val="705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57200"/>
            <a:ext cx="10972800" cy="365760"/>
          </a:xfrm>
          <a:prstGeom prst="rect">
            <a:avLst/>
          </a:prstGeom>
          <a:noFill/>
        </p:spPr>
        <p:txBody>
          <a:bodyPr wrap="square" lIns="0" rIns="0" tIns="0" bIns="0" anchor="t">
            <a:spAutoFit/>
          </a:bodyPr>
          <a:lstStyle/>
          <a:p>
            <a:pPr algn="l"/>
            <a:r>
              <a:rPr sz="1100" b="0" i="0">
                <a:solidFill>
                  <a:srgbClr val="C4B5FD"/>
                </a:solidFill>
                <a:latin typeface="Inter"/>
              </a:rPr>
              <a:t>— END OF PITCH</a:t>
            </a:r>
          </a:p>
        </p:txBody>
      </p:sp>
      <p:sp>
        <p:nvSpPr>
          <p:cNvPr id="6" name="TextBox 5"/>
          <p:cNvSpPr txBox="1"/>
          <p:nvPr/>
        </p:nvSpPr>
        <p:spPr>
          <a:xfrm>
            <a:off x="502920" y="1463040"/>
            <a:ext cx="10972800" cy="3200400"/>
          </a:xfrm>
          <a:prstGeom prst="rect">
            <a:avLst/>
          </a:prstGeom>
          <a:noFill/>
        </p:spPr>
        <p:txBody>
          <a:bodyPr wrap="square" lIns="0" rIns="0" tIns="0" bIns="0" anchor="t">
            <a:spAutoFit/>
          </a:bodyPr>
          <a:lstStyle/>
          <a:p>
            <a:pPr algn="l"/>
            <a:r>
              <a:rPr sz="22000" b="1" i="0">
                <a:solidFill>
                  <a:srgbClr val="FFFFFF"/>
                </a:solidFill>
                <a:latin typeface="Inter"/>
              </a:rPr>
              <a:t>BEGIN.</a:t>
            </a:r>
          </a:p>
        </p:txBody>
      </p:sp>
      <p:sp>
        <p:nvSpPr>
          <p:cNvPr id="7" name="Rectangle 6"/>
          <p:cNvSpPr/>
          <p:nvPr/>
        </p:nvSpPr>
        <p:spPr>
          <a:xfrm>
            <a:off x="548640" y="4663440"/>
            <a:ext cx="219456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937760"/>
            <a:ext cx="10972800" cy="548640"/>
          </a:xfrm>
          <a:prstGeom prst="rect">
            <a:avLst/>
          </a:prstGeom>
          <a:noFill/>
        </p:spPr>
        <p:txBody>
          <a:bodyPr wrap="square" lIns="0" rIns="0" tIns="0" bIns="0" anchor="t">
            <a:spAutoFit/>
          </a:bodyPr>
          <a:lstStyle/>
          <a:p>
            <a:pPr algn="l"/>
            <a:r>
              <a:rPr sz="2200" b="0" i="1">
                <a:solidFill>
                  <a:srgbClr val="C1C1C8"/>
                </a:solidFill>
                <a:latin typeface="Inter"/>
              </a:rPr>
              <a:t>Take five minutes. Open Kairo. Ask one doubt.</a:t>
            </a:r>
          </a:p>
        </p:txBody>
      </p:sp>
      <p:sp>
        <p:nvSpPr>
          <p:cNvPr id="9" name="Rounded Rectangle 8"/>
          <p:cNvSpPr/>
          <p:nvPr/>
        </p:nvSpPr>
        <p:spPr>
          <a:xfrm>
            <a:off x="502920" y="5760720"/>
            <a:ext cx="11155680" cy="594360"/>
          </a:xfrm>
          <a:prstGeom prst="roundRect">
            <a:avLst>
              <a:gd name="adj" fmla="val 50000"/>
            </a:avLst>
          </a:prstGeom>
          <a:solidFill>
            <a:srgbClr val="0E0E16"/>
          </a:solidFill>
          <a:ln w="9525">
            <a:solidFill>
              <a:srgbClr val="22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852160"/>
            <a:ext cx="5486400" cy="457200"/>
          </a:xfrm>
          <a:prstGeom prst="rect">
            <a:avLst/>
          </a:prstGeom>
          <a:noFill/>
        </p:spPr>
        <p:txBody>
          <a:bodyPr wrap="square" lIns="0" rIns="0" tIns="0" bIns="0" anchor="t">
            <a:spAutoFit/>
          </a:bodyPr>
          <a:lstStyle/>
          <a:p>
            <a:pPr algn="l"/>
            <a:r>
              <a:rPr sz="1400" b="1" i="0">
                <a:solidFill>
                  <a:srgbClr val="C4B5FD"/>
                </a:solidFill>
                <a:latin typeface="Inter"/>
              </a:rPr>
              <a:t>kairo-daily-edu.vercel.app</a:t>
            </a:r>
          </a:p>
        </p:txBody>
      </p:sp>
      <p:sp>
        <p:nvSpPr>
          <p:cNvPr id="11" name="TextBox 10"/>
          <p:cNvSpPr txBox="1"/>
          <p:nvPr/>
        </p:nvSpPr>
        <p:spPr>
          <a:xfrm>
            <a:off x="6858000" y="5852160"/>
            <a:ext cx="4754880" cy="457200"/>
          </a:xfrm>
          <a:prstGeom prst="rect">
            <a:avLst/>
          </a:prstGeom>
          <a:noFill/>
        </p:spPr>
        <p:txBody>
          <a:bodyPr wrap="square" lIns="0" rIns="0" tIns="0" bIns="0" anchor="t">
            <a:spAutoFit/>
          </a:bodyPr>
          <a:lstStyle/>
          <a:p>
            <a:pPr algn="r"/>
            <a:r>
              <a:rPr sz="1400" b="1" i="0">
                <a:solidFill>
                  <a:srgbClr val="FFFFFF"/>
                </a:solidFill>
                <a:latin typeface="Inter"/>
              </a:rPr>
              <a:t>quro.cor@gmail.com</a:t>
            </a:r>
          </a:p>
        </p:txBody>
      </p:sp>
      <p:sp>
        <p:nvSpPr>
          <p:cNvPr id="12" name="TextBox 11"/>
          <p:cNvSpPr txBox="1"/>
          <p:nvPr/>
        </p:nvSpPr>
        <p:spPr>
          <a:xfrm>
            <a:off x="502920" y="6473952"/>
            <a:ext cx="5486400" cy="274320"/>
          </a:xfrm>
          <a:prstGeom prst="rect">
            <a:avLst/>
          </a:prstGeom>
          <a:noFill/>
        </p:spPr>
        <p:txBody>
          <a:bodyPr wrap="square" lIns="0" rIns="0" tIns="0" bIns="0" anchor="t">
            <a:spAutoFit/>
          </a:bodyPr>
          <a:lstStyle/>
          <a:p>
            <a:pPr algn="l"/>
            <a:r>
              <a:rPr sz="900" b="0" i="0">
                <a:solidFill>
                  <a:srgbClr val="5A5A66"/>
                </a:solidFill>
                <a:latin typeface="Inter"/>
              </a:rPr>
              <a:t>KAIRO · ACCELERATE YOUR ACADEMICS</a:t>
            </a:r>
          </a:p>
        </p:txBody>
      </p:sp>
      <p:sp>
        <p:nvSpPr>
          <p:cNvPr id="13" name="TextBox 12"/>
          <p:cNvSpPr txBox="1"/>
          <p:nvPr/>
        </p:nvSpPr>
        <p:spPr>
          <a:xfrm>
            <a:off x="6400800" y="6473952"/>
            <a:ext cx="5303520" cy="274320"/>
          </a:xfrm>
          <a:prstGeom prst="rect">
            <a:avLst/>
          </a:prstGeom>
          <a:noFill/>
        </p:spPr>
        <p:txBody>
          <a:bodyPr wrap="square" lIns="0" rIns="0" tIns="0" bIns="0" anchor="t">
            <a:spAutoFit/>
          </a:bodyPr>
          <a:lstStyle/>
          <a:p>
            <a:pPr algn="r"/>
            <a:r>
              <a:rPr sz="900" b="0" i="0">
                <a:solidFill>
                  <a:srgbClr val="5A5A66"/>
                </a:solidFill>
                <a:latin typeface="Inter"/>
              </a:rPr>
              <a:t>PITCH №01  ·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