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0" b="1">
                <a:solidFill>
                  <a:srgbClr val="FFFFFF"/>
                </a:solidFill>
                <a:latin typeface="Inter"/>
              </a:rPr>
              <a:t>Kairo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C4B5FD"/>
                </a:solidFill>
                <a:latin typeface="Inter"/>
              </a:rPr>
              <a:t>Your AI Academic Twin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4023360"/>
            <a:ext cx="192024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1C1C8"/>
                </a:solidFill>
                <a:latin typeface="Inter"/>
              </a:rPr>
              <a:t>A complete walkthrough — every screen, every button, in plain English.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8A96"/>
                </a:solidFill>
                <a:latin typeface="Inter"/>
              </a:rPr>
              <a:t>Built for Class 9–12 students in India · CBSE · ICSE · State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What is Kairo?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Kairo is an AI tutor + memory engine + study OS — built for Indian classrooms.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109167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4B5FD"/>
                </a:solidFill>
                <a:latin typeface="Inter"/>
              </a:rPr>
              <a:t>•  </a:t>
            </a:r>
            <a:r>
              <a:rPr sz="1400" b="1">
                <a:solidFill>
                  <a:srgbClr val="FFFFFF"/>
                </a:solidFill>
                <a:latin typeface="Inter"/>
              </a:rPr>
              <a:t>AI tutor</a:t>
            </a:r>
            <a:r>
              <a:rPr sz="1400">
                <a:solidFill>
                  <a:srgbClr val="C1C1C8"/>
                </a:solidFill>
                <a:latin typeface="Inter"/>
              </a:rPr>
              <a:t> — Ask any doubt, get a step-by-step explanation with images and video — in 8 seconds.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4B5FD"/>
                </a:solidFill>
                <a:latin typeface="Inter"/>
              </a:rPr>
              <a:t>•  </a:t>
            </a:r>
            <a:r>
              <a:rPr sz="1400" b="1">
                <a:solidFill>
                  <a:srgbClr val="FFFFFF"/>
                </a:solidFill>
                <a:latin typeface="Inter"/>
              </a:rPr>
              <a:t>Memory engine</a:t>
            </a:r>
            <a:r>
              <a:rPr sz="1400">
                <a:solidFill>
                  <a:srgbClr val="C1C1C8"/>
                </a:solidFill>
                <a:latin typeface="Inter"/>
              </a:rPr>
              <a:t> — Kairo remembers what you've studied, what you've forgotten, and what to do next.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4B5FD"/>
                </a:solidFill>
                <a:latin typeface="Inter"/>
              </a:rPr>
              <a:t>•  </a:t>
            </a:r>
            <a:r>
              <a:rPr sz="1400" b="1">
                <a:solidFill>
                  <a:srgbClr val="FFFFFF"/>
                </a:solidFill>
                <a:latin typeface="Inter"/>
              </a:rPr>
              <a:t>Study OS</a:t>
            </a:r>
            <a:r>
              <a:rPr sz="1400">
                <a:solidFill>
                  <a:srgbClr val="C1C1C8"/>
                </a:solidFill>
                <a:latin typeface="Inter"/>
              </a:rPr>
              <a:t> — Flashcards, study plans, timetables, focus mode, panic mode — everything you need, one app.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4B5FD"/>
                </a:solidFill>
                <a:latin typeface="Inter"/>
              </a:rPr>
              <a:t>•  </a:t>
            </a:r>
            <a:r>
              <a:rPr sz="1400" b="1">
                <a:solidFill>
                  <a:srgbClr val="FFFFFF"/>
                </a:solidFill>
                <a:latin typeface="Inter"/>
              </a:rPr>
              <a:t>Privacy first</a:t>
            </a:r>
            <a:r>
              <a:rPr sz="1400">
                <a:solidFill>
                  <a:srgbClr val="C1C1C8"/>
                </a:solidFill>
                <a:latin typeface="Inter"/>
              </a:rPr>
              <a:t> — Your data lives on YOUR device. Cloud is only used to hop between devices.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C4B5FD"/>
                </a:solidFill>
                <a:latin typeface="Inter"/>
              </a:rPr>
              <a:t>•  </a:t>
            </a:r>
            <a:r>
              <a:rPr sz="1400" b="1">
                <a:solidFill>
                  <a:srgbClr val="FFFFFF"/>
                </a:solidFill>
                <a:latin typeface="Inter"/>
              </a:rPr>
              <a:t>For everyone</a:t>
            </a:r>
            <a:r>
              <a:rPr sz="1400">
                <a:solidFill>
                  <a:srgbClr val="C1C1C8"/>
                </a:solidFill>
                <a:latin typeface="Inter"/>
              </a:rPr>
              <a:t> — Students, teachers, parents, and entire schools — each with their own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 / 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100" b="1">
                <a:solidFill>
                  <a:srgbClr val="C4B5FD"/>
                </a:solidFill>
                <a:latin typeface="Inter"/>
              </a:rPr>
              <a:t>WHAT FOLLOWS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Every screen. Every button.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1C1C8"/>
                </a:solidFill>
                <a:latin typeface="Inter"/>
              </a:rPr>
              <a:t>The next slides walk through each surface in Kairo and explain — in plain English — exactly what every button does. No jargon, no marketing.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 / 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The cinematic front 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What new visitors see before they sign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Get Started</a:t>
            </a:r>
            <a:r>
              <a:rPr sz="1250">
                <a:solidFill>
                  <a:srgbClr val="C1C1C8"/>
                </a:solidFill>
                <a:latin typeface="Inter"/>
              </a:rPr>
              <a:t> — Opens the sign-up / sign-in screen so you can create your account or log back in.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Sign In</a:t>
            </a:r>
            <a:r>
              <a:rPr sz="1250">
                <a:solidFill>
                  <a:srgbClr val="C1C1C8"/>
                </a:solidFill>
                <a:latin typeface="Inter"/>
              </a:rPr>
              <a:t> — Same as Get Started — jumps straight to the email + password form for returning users.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Try a Lab (3D demo)</a:t>
            </a:r>
            <a:r>
              <a:rPr sz="1250">
                <a:solidFill>
                  <a:srgbClr val="C1C1C8"/>
                </a:solidFill>
                <a:latin typeface="Inter"/>
              </a:rPr>
              <a:t> — Drops you into one of the free 3D physics simulations without signing up, just to feel the product.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Learn More / Scroll</a:t>
            </a:r>
            <a:r>
              <a:rPr sz="1250">
                <a:solidFill>
                  <a:srgbClr val="C1C1C8"/>
                </a:solidFill>
                <a:latin typeface="Inter"/>
              </a:rPr>
              <a:t> — Smooth-scrolls through the marketing sections — Problem, Kairo OS, Solver, Labs, Roles, Features.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Privacy Policy (footer)</a:t>
            </a:r>
            <a:r>
              <a:rPr sz="1250">
                <a:solidFill>
                  <a:srgbClr val="C1C1C8"/>
                </a:solidFill>
                <a:latin typeface="Inter"/>
              </a:rPr>
              <a:t> — Opens the in-app Privacy modal explaining what data we collect and where it lives.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Terms of Service (footer)</a:t>
            </a:r>
            <a:r>
              <a:rPr sz="1250">
                <a:solidFill>
                  <a:srgbClr val="C1C1C8"/>
                </a:solidFill>
                <a:latin typeface="Inter"/>
              </a:rPr>
              <a:t> — Opens the in-app Terms modal — rules, eligibility, liability, governing law.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Contact (footer)</a:t>
            </a:r>
            <a:r>
              <a:rPr sz="1250">
                <a:solidFill>
                  <a:srgbClr val="C1C1C8"/>
                </a:solidFill>
                <a:latin typeface="Inter"/>
              </a:rPr>
              <a:t> — One-click copy of the support email so you can write to 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96"/>
                </a:solidFill>
                <a:latin typeface="Inter"/>
              </a:rPr>
              <a:t>The landing page is server-less marketing — no account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 / 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SIGN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Welcome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The single email + password form for existing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Email field</a:t>
            </a:r>
            <a:r>
              <a:rPr sz="1250">
                <a:solidFill>
                  <a:srgbClr val="C1C1C8"/>
                </a:solidFill>
                <a:latin typeface="Inter"/>
              </a:rPr>
              <a:t> — Type the email you used when you signed up.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Password field</a:t>
            </a:r>
            <a:r>
              <a:rPr sz="1250">
                <a:solidFill>
                  <a:srgbClr val="C1C1C8"/>
                </a:solidFill>
                <a:latin typeface="Inter"/>
              </a:rPr>
              <a:t> — Type your password. Hidden by default.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Eye icon</a:t>
            </a:r>
            <a:r>
              <a:rPr sz="1250">
                <a:solidFill>
                  <a:srgbClr val="C1C1C8"/>
                </a:solidFill>
                <a:latin typeface="Inter"/>
              </a:rPr>
              <a:t> — Tap to show or hide the password while you type — handy on mobile.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Forgot your password?</a:t>
            </a:r>
            <a:r>
              <a:rPr sz="1250">
                <a:solidFill>
                  <a:srgbClr val="C1C1C8"/>
                </a:solidFill>
                <a:latin typeface="Inter"/>
              </a:rPr>
              <a:t> — Sends a password-reset link to the email above. You set a new password and come back to sign in.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Sign In button</a:t>
            </a:r>
            <a:r>
              <a:rPr sz="1250">
                <a:solidFill>
                  <a:srgbClr val="C1C1C8"/>
                </a:solidFill>
                <a:latin typeface="Inter"/>
              </a:rPr>
              <a:t> — Logs you in. On success, takes you to the dashboard. On failure, shows the exact error from Supabase.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Back arrow</a:t>
            </a:r>
            <a:r>
              <a:rPr sz="1250">
                <a:solidFill>
                  <a:srgbClr val="C1C1C8"/>
                </a:solidFill>
                <a:latin typeface="Inter"/>
              </a:rPr>
              <a:t> — Returns you to the "Choose how to sign up" screen.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Terms &amp; Privacy links</a:t>
            </a:r>
            <a:r>
              <a:rPr sz="1250">
                <a:solidFill>
                  <a:srgbClr val="C1C1C8"/>
                </a:solidFill>
                <a:latin typeface="Inter"/>
              </a:rPr>
              <a:t> — Each link opens the full document in a sheet — required reading on first sign-in.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96"/>
                </a:solidFill>
                <a:latin typeface="Inter"/>
              </a:rPr>
              <a:t>Powered by Supabase auth. Sessions auto-refresh every 10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5 / 51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SIGN UP — PERSONAL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For students with no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One-screen sign-up. Skip the school code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Avatar picker</a:t>
            </a:r>
            <a:r>
              <a:rPr sz="1250">
                <a:solidFill>
                  <a:srgbClr val="C1C1C8"/>
                </a:solidFill>
                <a:latin typeface="Inter"/>
              </a:rPr>
              <a:t> — Optional. Tap to upload a profile photo (up to 4 MB, JPG / PNG / WebP).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Full Name</a:t>
            </a:r>
            <a:r>
              <a:rPr sz="1250">
                <a:solidFill>
                  <a:srgbClr val="C1C1C8"/>
                </a:solidFill>
                <a:latin typeface="Inter"/>
              </a:rPr>
              <a:t> — Your full name as it should appear inside Kairo and on shared content.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Email</a:t>
            </a:r>
            <a:r>
              <a:rPr sz="1250">
                <a:solidFill>
                  <a:srgbClr val="C1C1C8"/>
                </a:solidFill>
                <a:latin typeface="Inter"/>
              </a:rPr>
              <a:t> — Your login email — also where we send OTPs and reset links.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Create Password</a:t>
            </a:r>
            <a:r>
              <a:rPr sz="1250">
                <a:solidFill>
                  <a:srgbClr val="C1C1C8"/>
                </a:solidFill>
                <a:latin typeface="Inter"/>
              </a:rPr>
              <a:t> — At least 8 characters. Hidden by default; eye icon toggles visibility.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Class / Grade</a:t>
            </a:r>
            <a:r>
              <a:rPr sz="1250">
                <a:solidFill>
                  <a:srgbClr val="C1C1C8"/>
                </a:solidFill>
                <a:latin typeface="Inter"/>
              </a:rPr>
              <a:t> — Optional — helps Kairo tailor explanations to your level (e.g. "9", "10 A", "Class 11").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Board</a:t>
            </a:r>
            <a:r>
              <a:rPr sz="1250">
                <a:solidFill>
                  <a:srgbClr val="C1C1C8"/>
                </a:solidFill>
                <a:latin typeface="Inter"/>
              </a:rPr>
              <a:t> — Optional pill picker — CBSE, ICSE, State, IB, Other. Used by the AI to match your syllabus.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Create my account</a:t>
            </a:r>
            <a:r>
              <a:rPr sz="1250">
                <a:solidFill>
                  <a:srgbClr val="C1C1C8"/>
                </a:solidFill>
                <a:latin typeface="Inter"/>
              </a:rPr>
              <a:t> — Creates the account, signs you in, and drops you into your fresh dashboard.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Sign in instead</a:t>
            </a:r>
            <a:r>
              <a:rPr sz="1250">
                <a:solidFill>
                  <a:srgbClr val="C1C1C8"/>
                </a:solidFill>
                <a:latin typeface="Inter"/>
              </a:rPr>
              <a:t> — If you actually have an account, this jumps to the sign-in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96"/>
                </a:solidFill>
                <a:latin typeface="Inter"/>
              </a:rPr>
              <a:t>If your email already exists, Kairo auto-signs you in with the same password.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6 / 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SIGN UP — JOIN A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4-step wizard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For students, teachers, and parents whose school is already on Kairo.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1 · Join Code</a:t>
            </a:r>
            <a:r>
              <a:rPr sz="1250">
                <a:solidFill>
                  <a:srgbClr val="C1C1C8"/>
                </a:solidFill>
                <a:latin typeface="Inter"/>
              </a:rPr>
              <a:t> — Enter the 18-character code your school admin gave you.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Continue</a:t>
            </a:r>
            <a:r>
              <a:rPr sz="1250">
                <a:solidFill>
                  <a:srgbClr val="C1C1C8"/>
                </a:solidFill>
                <a:latin typeface="Inter"/>
              </a:rPr>
              <a:t> — Validates the code with the server and shows the school logo + name on the next screen.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2 · Avatar + Account</a:t>
            </a:r>
            <a:r>
              <a:rPr sz="1250">
                <a:solidFill>
                  <a:srgbClr val="C1C1C8"/>
                </a:solidFill>
                <a:latin typeface="Inter"/>
              </a:rPr>
              <a:t> — Pick a photo, then enter Name, Email, Password (8+ chars).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3 · Pick role</a:t>
            </a:r>
            <a:r>
              <a:rPr sz="1250">
                <a:solidFill>
                  <a:srgbClr val="C1C1C8"/>
                </a:solidFill>
                <a:latin typeface="Inter"/>
              </a:rPr>
              <a:t> — Tap one of: Student, Teacher, Parent. The next screen depends on what you picked.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4 · Parent linking</a:t>
            </a:r>
            <a:r>
              <a:rPr sz="1250">
                <a:solidFill>
                  <a:srgbClr val="C1C1C8"/>
                </a:solidFill>
                <a:latin typeface="Inter"/>
              </a:rPr>
              <a:t> — Parents only — enter the student's name and the 8-char parent access code from the child's app.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Create Account</a:t>
            </a:r>
            <a:r>
              <a:rPr sz="1250">
                <a:solidFill>
                  <a:srgbClr val="C1C1C8"/>
                </a:solidFill>
                <a:latin typeface="Inter"/>
              </a:rPr>
              <a:t> — Final submit. Logs you in with the role-appropriate dashboard.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Back arrow on every step</a:t>
            </a:r>
            <a:r>
              <a:rPr sz="1250">
                <a:solidFill>
                  <a:srgbClr val="C1C1C8"/>
                </a:solidFill>
                <a:latin typeface="Inter"/>
              </a:rPr>
              <a:t> — Goes back one step without losing what you typed.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7 / 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SIGN UP — CREATE A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2-step admin wizard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For principals, owners, or coordinators starting fresh on Kairo.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1 · School Name</a:t>
            </a:r>
            <a:r>
              <a:rPr sz="1250">
                <a:solidFill>
                  <a:srgbClr val="C1C1C8"/>
                </a:solidFill>
                <a:latin typeface="Inter"/>
              </a:rPr>
              <a:t> — Type your school's full name as you want it shown to teachers and students.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2 · Owner Account</a:t>
            </a:r>
            <a:r>
              <a:rPr sz="1250">
                <a:solidFill>
                  <a:srgbClr val="C1C1C8"/>
                </a:solidFill>
                <a:latin typeface="Inter"/>
              </a:rPr>
              <a:t> — Your name, email, and password. You become the admin.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Create School</a:t>
            </a:r>
            <a:r>
              <a:rPr sz="1250">
                <a:solidFill>
                  <a:srgbClr val="C1C1C8"/>
                </a:solidFill>
                <a:latin typeface="Inter"/>
              </a:rPr>
              <a:t> — Server creates the school, makes you admin, and signs you in immediately.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Join Code reveal</a:t>
            </a:r>
            <a:r>
              <a:rPr sz="1250">
                <a:solidFill>
                  <a:srgbClr val="C1C1C8"/>
                </a:solidFill>
                <a:latin typeface="Inter"/>
              </a:rPr>
              <a:t> — Final screen shows a unique join code. Share it with teachers and students to invite them.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Copy code</a:t>
            </a:r>
            <a:r>
              <a:rPr sz="1250">
                <a:solidFill>
                  <a:srgbClr val="C1C1C8"/>
                </a:solidFill>
                <a:latin typeface="Inter"/>
              </a:rPr>
              <a:t> — One-tap clipboard copy of the join code.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Open Admin Dashboard</a:t>
            </a:r>
            <a:r>
              <a:rPr sz="1250">
                <a:solidFill>
                  <a:srgbClr val="C1C1C8"/>
                </a:solidFill>
                <a:latin typeface="Inter"/>
              </a:rPr>
              <a:t> — Takes you straight into the School Hub control center.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96"/>
                </a:solidFill>
                <a:latin typeface="Inter"/>
              </a:rPr>
              <a:t>Free during early access — no payment required to start a school.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8 /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KAIRO'S 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Any doubt. Eight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The main AI tutor — type any question, get a visual lesson with images +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Ask anything box</a:t>
            </a:r>
            <a:r>
              <a:rPr sz="1250">
                <a:solidFill>
                  <a:srgbClr val="C1C1C8"/>
                </a:solidFill>
                <a:latin typeface="Inter"/>
              </a:rPr>
              <a:t> — Type your question (any subject, any board). Press Enter or tap Send.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Send (▶)</a:t>
            </a:r>
            <a:r>
              <a:rPr sz="1250">
                <a:solidFill>
                  <a:srgbClr val="C1C1C8"/>
                </a:solidFill>
                <a:latin typeface="Inter"/>
              </a:rPr>
              <a:t> — Fires the request. Kairo writes a step-by-step explanation on the right and pulls 4–6 images on the left.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Stop (⏹)</a:t>
            </a:r>
            <a:r>
              <a:rPr sz="1250">
                <a:solidFill>
                  <a:srgbClr val="C1C1C8"/>
                </a:solidFill>
                <a:latin typeface="Inter"/>
              </a:rPr>
              <a:t> — Cancels the streaming response if you typed the wrong thing.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Suggestion chips</a:t>
            </a:r>
            <a:r>
              <a:rPr sz="1250">
                <a:solidFill>
                  <a:srgbClr val="C1C1C8"/>
                </a:solidFill>
                <a:latin typeface="Inter"/>
              </a:rPr>
              <a:t> — Pre-filled example questions on the empty state — tap to ask without typing.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Image slideshow ◀ / ▶</a:t>
            </a:r>
            <a:r>
              <a:rPr sz="1250">
                <a:solidFill>
                  <a:srgbClr val="C1C1C8"/>
                </a:solidFill>
                <a:latin typeface="Inter"/>
              </a:rPr>
              <a:t> — Walk through the auto-built "picture-book" of images (Wikimedia, Pexels, Unsplash).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Open in Kairo Labs</a:t>
            </a:r>
            <a:r>
              <a:rPr sz="1250">
                <a:solidFill>
                  <a:srgbClr val="C1C1C8"/>
                </a:solidFill>
                <a:latin typeface="Inter"/>
              </a:rPr>
              <a:t> — If the topic has a matching 3D lab (e.g. gravity, circuits), jumps you there with one tap.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Mic</a:t>
            </a:r>
            <a:r>
              <a:rPr sz="1250">
                <a:solidFill>
                  <a:srgbClr val="C1C1C8"/>
                </a:solidFill>
                <a:latin typeface="Inter"/>
              </a:rPr>
              <a:t> — Voice input — speak your question instead of typing.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Model picker</a:t>
            </a:r>
            <a:r>
              <a:rPr sz="1250">
                <a:solidFill>
                  <a:srgbClr val="C1C1C8"/>
                </a:solidFill>
                <a:latin typeface="Inter"/>
              </a:rPr>
              <a:t> — Switches between different AI models (default is the fastest).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New chat</a:t>
            </a:r>
            <a:r>
              <a:rPr sz="1250">
                <a:solidFill>
                  <a:srgbClr val="C1C1C8"/>
                </a:solidFill>
                <a:latin typeface="Inter"/>
              </a:rPr>
              <a:t> — Wipes the screen and starts fresh.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9 / 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KAIRO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Your AI Academic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The memory engine — everything Kairo knows about you,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Twin tile</a:t>
            </a:r>
            <a:r>
              <a:rPr sz="1250">
                <a:solidFill>
                  <a:srgbClr val="C1C1C8"/>
                </a:solidFill>
                <a:latin typeface="Inter"/>
              </a:rPr>
              <a:t> — Shows your study activity, mastered topics, weak areas. Auto-updates as you learn.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Voice</a:t>
            </a:r>
            <a:r>
              <a:rPr sz="1250">
                <a:solidFill>
                  <a:srgbClr val="C1C1C8"/>
                </a:solidFill>
                <a:latin typeface="Inter"/>
              </a:rPr>
              <a:t> — Hold to speak. Kairo responds in voice — fully conversational tutor.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Insights cards</a:t>
            </a:r>
            <a:r>
              <a:rPr sz="1250">
                <a:solidFill>
                  <a:srgbClr val="C1C1C8"/>
                </a:solidFill>
                <a:latin typeface="Inter"/>
              </a:rPr>
              <a:t> — Daily nudges — "You've forgotten 4 chem flashcards", "Time to revise Thermodynamics".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Quick actions row</a:t>
            </a:r>
            <a:r>
              <a:rPr sz="1250">
                <a:solidFill>
                  <a:srgbClr val="C1C1C8"/>
                </a:solidFill>
                <a:latin typeface="Inter"/>
              </a:rPr>
              <a:t> — One-tap shortcuts: Make flashcards, Build study plan, Take quiz, Open notebook.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Cross-device sync</a:t>
            </a:r>
            <a:r>
              <a:rPr sz="1250">
                <a:solidFill>
                  <a:srgbClr val="C1C1C8"/>
                </a:solidFill>
                <a:latin typeface="Inter"/>
              </a:rPr>
              <a:t> — If you sign in on another device, your whole Twin sprints over — locally-first, cloud transit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96"/>
                </a:solidFill>
                <a:latin typeface="Inter"/>
              </a:rPr>
              <a:t>All Twin data lives on your device; the cloud is only used to hop devices.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10 / 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KAIRO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3D simulations of physics, chem, bio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Touchable simulations instead of static diagrams.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Lab card</a:t>
            </a:r>
            <a:r>
              <a:rPr sz="1250">
                <a:solidFill>
                  <a:srgbClr val="C1C1C8"/>
                </a:solidFill>
                <a:latin typeface="Inter"/>
              </a:rPr>
              <a:t> — Tap any lab tile to launch the 3D scene full-screen.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Drag / pinch</a:t>
            </a:r>
            <a:r>
              <a:rPr sz="1250">
                <a:solidFill>
                  <a:srgbClr val="C1C1C8"/>
                </a:solidFill>
                <a:latin typeface="Inter"/>
              </a:rPr>
              <a:t> — Orbit and zoom the scene with your finger or mouse.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Sliders</a:t>
            </a:r>
            <a:r>
              <a:rPr sz="1250">
                <a:solidFill>
                  <a:srgbClr val="C1C1C8"/>
                </a:solidFill>
                <a:latin typeface="Inter"/>
              </a:rPr>
              <a:t> — Adjust physical variables in real time (mass, voltage, temperature, etc.).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Reset</a:t>
            </a:r>
            <a:r>
              <a:rPr sz="1250">
                <a:solidFill>
                  <a:srgbClr val="C1C1C8"/>
                </a:solidFill>
                <a:latin typeface="Inter"/>
              </a:rPr>
              <a:t> — Return the scene to default values without leaving the lab.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Explain this</a:t>
            </a:r>
            <a:r>
              <a:rPr sz="1250">
                <a:solidFill>
                  <a:srgbClr val="C1C1C8"/>
                </a:solidFill>
                <a:latin typeface="Inter"/>
              </a:rPr>
              <a:t> — Asks Kairo Solver to explain what you're currently seeing in the simulation.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Take screenshot</a:t>
            </a:r>
            <a:r>
              <a:rPr sz="1250">
                <a:solidFill>
                  <a:srgbClr val="C1C1C8"/>
                </a:solidFill>
                <a:latin typeface="Inter"/>
              </a:rPr>
              <a:t> — Save the current frame to your notebook as a study reference.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11 / 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FLASHCARDS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Spaced repetition done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Make, study, and review cards that come back at the right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+ New deck</a:t>
            </a:r>
            <a:r>
              <a:rPr sz="1250">
                <a:solidFill>
                  <a:srgbClr val="C1C1C8"/>
                </a:solidFill>
                <a:latin typeface="Inter"/>
              </a:rPr>
              <a:t> — Create a new deck for a chapter or topic.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AI generate</a:t>
            </a:r>
            <a:r>
              <a:rPr sz="1250">
                <a:solidFill>
                  <a:srgbClr val="C1C1C8"/>
                </a:solidFill>
                <a:latin typeface="Inter"/>
              </a:rPr>
              <a:t> — Paste a passage and Kairo turns it into 10–20 cards automatically.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Study now</a:t>
            </a:r>
            <a:r>
              <a:rPr sz="1250">
                <a:solidFill>
                  <a:srgbClr val="C1C1C8"/>
                </a:solidFill>
                <a:latin typeface="Inter"/>
              </a:rPr>
              <a:t> — Starts a session — show card, flip, rate "Hard / Good / Easy". Next time is scheduled by SRS.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Hard</a:t>
            </a:r>
            <a:r>
              <a:rPr sz="1250">
                <a:solidFill>
                  <a:srgbClr val="C1C1C8"/>
                </a:solidFill>
                <a:latin typeface="Inter"/>
              </a:rPr>
              <a:t> — Card comes back in 10 minutes.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Good</a:t>
            </a:r>
            <a:r>
              <a:rPr sz="1250">
                <a:solidFill>
                  <a:srgbClr val="C1C1C8"/>
                </a:solidFill>
                <a:latin typeface="Inter"/>
              </a:rPr>
              <a:t> — Card comes back in 1 day (then doubles).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Easy</a:t>
            </a:r>
            <a:r>
              <a:rPr sz="1250">
                <a:solidFill>
                  <a:srgbClr val="C1C1C8"/>
                </a:solidFill>
                <a:latin typeface="Inter"/>
              </a:rPr>
              <a:t> — Card comes back in 4 days (then triples).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Edit card</a:t>
            </a:r>
            <a:r>
              <a:rPr sz="1250">
                <a:solidFill>
                  <a:srgbClr val="C1C1C8"/>
                </a:solidFill>
                <a:latin typeface="Inter"/>
              </a:rPr>
              <a:t> — Tap a card to fix the question or answer.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Delete card</a:t>
            </a:r>
            <a:r>
              <a:rPr sz="1250">
                <a:solidFill>
                  <a:srgbClr val="C1C1C8"/>
                </a:solidFill>
                <a:latin typeface="Inter"/>
              </a:rPr>
              <a:t> — Remove a card from the deck (asks for confirmation).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12 / 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AI-organised study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Type or paste anything; Kairo formats, tags, and links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New note</a:t>
            </a:r>
            <a:r>
              <a:rPr sz="1250">
                <a:solidFill>
                  <a:srgbClr val="C1C1C8"/>
                </a:solidFill>
                <a:latin typeface="Inter"/>
              </a:rPr>
              <a:t> — Blank canvas. Markdown supported.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Generate from prompt</a:t>
            </a:r>
            <a:r>
              <a:rPr sz="1250">
                <a:solidFill>
                  <a:srgbClr val="C1C1C8"/>
                </a:solidFill>
                <a:latin typeface="Inter"/>
              </a:rPr>
              <a:t> — Tell Kairo what chapter you're studying and it drafts an organised note.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Voice note</a:t>
            </a:r>
            <a:r>
              <a:rPr sz="1250">
                <a:solidFill>
                  <a:srgbClr val="C1C1C8"/>
                </a:solidFill>
                <a:latin typeface="Inter"/>
              </a:rPr>
              <a:t> — Record a voice memo — Kairo transcribes and summarises.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Save</a:t>
            </a:r>
            <a:r>
              <a:rPr sz="1250">
                <a:solidFill>
                  <a:srgbClr val="C1C1C8"/>
                </a:solidFill>
                <a:latin typeface="Inter"/>
              </a:rPr>
              <a:t> — Persists the note to your Twin and the device.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Tag chip</a:t>
            </a:r>
            <a:r>
              <a:rPr sz="1250">
                <a:solidFill>
                  <a:srgbClr val="C1C1C8"/>
                </a:solidFill>
                <a:latin typeface="Inter"/>
              </a:rPr>
              <a:t> — Add tags (e.g. "Physics, Class 10, Boards"). Used by search.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Export</a:t>
            </a:r>
            <a:r>
              <a:rPr sz="1250">
                <a:solidFill>
                  <a:srgbClr val="C1C1C8"/>
                </a:solidFill>
                <a:latin typeface="Inter"/>
              </a:rPr>
              <a:t> — Download the note as Markdown or PDF.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13 / 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STUDY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A weekly plan that bends to your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Tell Kairo your exams and Kairo schedules everything.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+ Add exam</a:t>
            </a:r>
            <a:r>
              <a:rPr sz="1250">
                <a:solidFill>
                  <a:srgbClr val="C1C1C8"/>
                </a:solidFill>
                <a:latin typeface="Inter"/>
              </a:rPr>
              <a:t> — Drop in an exam date and subject — Kairo back-schedules revision sessions.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Generate plan</a:t>
            </a:r>
            <a:r>
              <a:rPr sz="1250">
                <a:solidFill>
                  <a:srgbClr val="C1C1C8"/>
                </a:solidFill>
                <a:latin typeface="Inter"/>
              </a:rPr>
              <a:t> — AI builds a week-by-week study plan based on your weak topics.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Drag-to-reschedule</a:t>
            </a:r>
            <a:r>
              <a:rPr sz="1250">
                <a:solidFill>
                  <a:srgbClr val="C1C1C8"/>
                </a:solidFill>
                <a:latin typeface="Inter"/>
              </a:rPr>
              <a:t> — Move a session to a different day or time.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Mark done</a:t>
            </a:r>
            <a:r>
              <a:rPr sz="1250">
                <a:solidFill>
                  <a:srgbClr val="C1C1C8"/>
                </a:solidFill>
                <a:latin typeface="Inter"/>
              </a:rPr>
              <a:t> — Tick off a session — feeds back into your Twin's memory score.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Skip / Snooze</a:t>
            </a:r>
            <a:r>
              <a:rPr sz="1250">
                <a:solidFill>
                  <a:srgbClr val="C1C1C8"/>
                </a:solidFill>
                <a:latin typeface="Inter"/>
              </a:rPr>
              <a:t> — Postpone a session without losing the streak.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14 / 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POMODORO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25-minute focus timer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 minimal timer with break enforcement and stats.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Start</a:t>
            </a:r>
            <a:r>
              <a:rPr sz="1250">
                <a:solidFill>
                  <a:srgbClr val="C1C1C8"/>
                </a:solidFill>
                <a:latin typeface="Inter"/>
              </a:rPr>
              <a:t> — 25-minute focus block begins; phone notifications auto-silenced via the API.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Pause</a:t>
            </a:r>
            <a:r>
              <a:rPr sz="1250">
                <a:solidFill>
                  <a:srgbClr val="C1C1C8"/>
                </a:solidFill>
                <a:latin typeface="Inter"/>
              </a:rPr>
              <a:t> — Stops the clock — useful if a teacher walks in.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Skip break</a:t>
            </a:r>
            <a:r>
              <a:rPr sz="1250">
                <a:solidFill>
                  <a:srgbClr val="C1C1C8"/>
                </a:solidFill>
                <a:latin typeface="Inter"/>
              </a:rPr>
              <a:t> — Jumps to the next focus block without taking the 5-minute break (not recommended).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Long break</a:t>
            </a:r>
            <a:r>
              <a:rPr sz="1250">
                <a:solidFill>
                  <a:srgbClr val="C1C1C8"/>
                </a:solidFill>
                <a:latin typeface="Inter"/>
              </a:rPr>
              <a:t> — Triggered automatically after every 4 blocks — 15 minutes off.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Stats</a:t>
            </a:r>
            <a:r>
              <a:rPr sz="1250">
                <a:solidFill>
                  <a:srgbClr val="C1C1C8"/>
                </a:solidFill>
                <a:latin typeface="Inter"/>
              </a:rPr>
              <a:t> — Total focus time today / this week.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15 / 51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FOCUS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Hide everything except what you're studying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Fullscreen single-task UI for deep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Pick a target</a:t>
            </a:r>
            <a:r>
              <a:rPr sz="1250">
                <a:solidFill>
                  <a:srgbClr val="C1C1C8"/>
                </a:solidFill>
                <a:latin typeface="Inter"/>
              </a:rPr>
              <a:t> — Choose a subject + topic for this focus session.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Start session</a:t>
            </a:r>
            <a:r>
              <a:rPr sz="1250">
                <a:solidFill>
                  <a:srgbClr val="C1C1C8"/>
                </a:solidFill>
                <a:latin typeface="Inter"/>
              </a:rPr>
              <a:t> — Hides side panels, mutes notifications, dims the rest of the UI.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Exit</a:t>
            </a:r>
            <a:r>
              <a:rPr sz="1250">
                <a:solidFill>
                  <a:srgbClr val="C1C1C8"/>
                </a:solidFill>
                <a:latin typeface="Inter"/>
              </a:rPr>
              <a:t> — Restores the full dashboard. Asks "Was this useful?" to feed your Twin.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16 / 51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PANIC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Exam tomorrow. Don't panic.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 calm, last-minute revision guide built for night-before-the-exam moments.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Subject picker</a:t>
            </a:r>
            <a:r>
              <a:rPr sz="1250">
                <a:solidFill>
                  <a:srgbClr val="C1C1C8"/>
                </a:solidFill>
                <a:latin typeface="Inter"/>
              </a:rPr>
              <a:t> — Pick the subject you're panicking about.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Top 10 must-knows</a:t>
            </a:r>
            <a:r>
              <a:rPr sz="1250">
                <a:solidFill>
                  <a:srgbClr val="C1C1C8"/>
                </a:solidFill>
                <a:latin typeface="Inter"/>
              </a:rPr>
              <a:t> — Kairo surfaces the 10 highest-yield concepts based on your weak areas.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5-minute summaries</a:t>
            </a:r>
            <a:r>
              <a:rPr sz="1250">
                <a:solidFill>
                  <a:srgbClr val="C1C1C8"/>
                </a:solidFill>
                <a:latin typeface="Inter"/>
              </a:rPr>
              <a:t> — Each concept is a 5-min revision card with example + answer.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Quick quiz</a:t>
            </a:r>
            <a:r>
              <a:rPr sz="1250">
                <a:solidFill>
                  <a:srgbClr val="C1C1C8"/>
                </a:solidFill>
                <a:latin typeface="Inter"/>
              </a:rPr>
              <a:t> — A 10-question rapid quiz to lock memory in before sleep.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17 / 51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MEMORY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The Twin's memory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See everything Kairo remembers about how you learn.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Strong / Weak chips</a:t>
            </a:r>
            <a:r>
              <a:rPr sz="1250">
                <a:solidFill>
                  <a:srgbClr val="C1C1C8"/>
                </a:solidFill>
                <a:latin typeface="Inter"/>
              </a:rPr>
              <a:t> — Topics colour-coded by mastery — light = strong, dark = weak.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Replay a memory</a:t>
            </a:r>
            <a:r>
              <a:rPr sz="1250">
                <a:solidFill>
                  <a:srgbClr val="C1C1C8"/>
                </a:solidFill>
                <a:latin typeface="Inter"/>
              </a:rPr>
              <a:t> — Tap a topic to see when you last studied it, your last score, and what to do next.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Forget this</a:t>
            </a:r>
            <a:r>
              <a:rPr sz="1250">
                <a:solidFill>
                  <a:srgbClr val="C1C1C8"/>
                </a:solidFill>
                <a:latin typeface="Inter"/>
              </a:rPr>
              <a:t> — Manually mark a topic as forgotten — schedules instant revision.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Export brain</a:t>
            </a:r>
            <a:r>
              <a:rPr sz="1250">
                <a:solidFill>
                  <a:srgbClr val="C1C1C8"/>
                </a:solidFill>
                <a:latin typeface="Inter"/>
              </a:rPr>
              <a:t> — Download a JSON snapshot of your full Twin.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18 / 51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CONCEPT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How everything connects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 draggable graph linking concepts, formulas, and examples.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Node</a:t>
            </a:r>
            <a:r>
              <a:rPr sz="1250">
                <a:solidFill>
                  <a:srgbClr val="C1C1C8"/>
                </a:solidFill>
                <a:latin typeface="Inter"/>
              </a:rPr>
              <a:t> — Tap a concept to expand its definition + related nodes.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Drag</a:t>
            </a:r>
            <a:r>
              <a:rPr sz="1250">
                <a:solidFill>
                  <a:srgbClr val="C1C1C8"/>
                </a:solidFill>
                <a:latin typeface="Inter"/>
              </a:rPr>
              <a:t> — Reposition the graph for a clearer view.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Zoom</a:t>
            </a:r>
            <a:r>
              <a:rPr sz="1250">
                <a:solidFill>
                  <a:srgbClr val="C1C1C8"/>
                </a:solidFill>
                <a:latin typeface="Inter"/>
              </a:rPr>
              <a:t> — Pinch or wheel-scroll to zoom in / out.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Search bar</a:t>
            </a:r>
            <a:r>
              <a:rPr sz="1250">
                <a:solidFill>
                  <a:srgbClr val="C1C1C8"/>
                </a:solidFill>
                <a:latin typeface="Inter"/>
              </a:rPr>
              <a:t> — Jump directly to any concept on the graph.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Add link</a:t>
            </a:r>
            <a:r>
              <a:rPr sz="1250">
                <a:solidFill>
                  <a:srgbClr val="C1C1C8"/>
                </a:solidFill>
                <a:latin typeface="Inter"/>
              </a:rPr>
              <a:t> — Manually connect two concepts you discovered are related.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19 / 51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FORMULA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Every formula you've seen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Searchable, swipeable cheat sheet auto-built from your studied topics.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Search</a:t>
            </a:r>
            <a:r>
              <a:rPr sz="1250">
                <a:solidFill>
                  <a:srgbClr val="C1C1C8"/>
                </a:solidFill>
                <a:latin typeface="Inter"/>
              </a:rPr>
              <a:t> — Type "kinematics" to filter to relevant formulas.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Tap a formula</a:t>
            </a:r>
            <a:r>
              <a:rPr sz="1250">
                <a:solidFill>
                  <a:srgbClr val="C1C1C8"/>
                </a:solidFill>
                <a:latin typeface="Inter"/>
              </a:rPr>
              <a:t> — Opens a full derivation + example problem.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Pin</a:t>
            </a:r>
            <a:r>
              <a:rPr sz="1250">
                <a:solidFill>
                  <a:srgbClr val="C1C1C8"/>
                </a:solidFill>
                <a:latin typeface="Inter"/>
              </a:rPr>
              <a:t> — Pin to the top of the sheet for fast access during revision.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+ Add formula</a:t>
            </a:r>
            <a:r>
              <a:rPr sz="1250">
                <a:solidFill>
                  <a:srgbClr val="C1C1C8"/>
                </a:solidFill>
                <a:latin typeface="Inter"/>
              </a:rPr>
              <a:t> — Save a formula you ran into while studying.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20 / 51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ADAPTIVE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Quizzes that change as you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Difficulty scales up or down based on your last 3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Start quiz</a:t>
            </a:r>
            <a:r>
              <a:rPr sz="1250">
                <a:solidFill>
                  <a:srgbClr val="C1C1C8"/>
                </a:solidFill>
                <a:latin typeface="Inter"/>
              </a:rPr>
              <a:t> — Begins a 20-question quiz seeded from your weak topics.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Submit answer</a:t>
            </a:r>
            <a:r>
              <a:rPr sz="1250">
                <a:solidFill>
                  <a:srgbClr val="C1C1C8"/>
                </a:solidFill>
                <a:latin typeface="Inter"/>
              </a:rPr>
              <a:t> — Locks your answer and tells you correct / wrong with the model explanation.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Hint</a:t>
            </a:r>
            <a:r>
              <a:rPr sz="1250">
                <a:solidFill>
                  <a:srgbClr val="C1C1C8"/>
                </a:solidFill>
                <a:latin typeface="Inter"/>
              </a:rPr>
              <a:t> — Asks Kairo for a small hint without revealing the answer (counts against the score).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Skip</a:t>
            </a:r>
            <a:r>
              <a:rPr sz="1250">
                <a:solidFill>
                  <a:srgbClr val="C1C1C8"/>
                </a:solidFill>
                <a:latin typeface="Inter"/>
              </a:rPr>
              <a:t> — Move on without answering — comes back at the end.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End early</a:t>
            </a:r>
            <a:r>
              <a:rPr sz="1250">
                <a:solidFill>
                  <a:srgbClr val="C1C1C8"/>
                </a:solidFill>
                <a:latin typeface="Inter"/>
              </a:rPr>
              <a:t> — Stop the quiz and see partial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21 / 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BATTLE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1-v-1 quiz duels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Pick a friend's code or random match — same questions, fastest correct answer wins.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Join battle</a:t>
            </a:r>
            <a:r>
              <a:rPr sz="1250">
                <a:solidFill>
                  <a:srgbClr val="C1C1C8"/>
                </a:solidFill>
                <a:latin typeface="Inter"/>
              </a:rPr>
              <a:t> — Enter the 6-char code your friend shared.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Random match</a:t>
            </a:r>
            <a:r>
              <a:rPr sz="1250">
                <a:solidFill>
                  <a:srgbClr val="C1C1C8"/>
                </a:solidFill>
                <a:latin typeface="Inter"/>
              </a:rPr>
              <a:t> — Auto-match against another Kairo user at your level.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Start</a:t>
            </a:r>
            <a:r>
              <a:rPr sz="1250">
                <a:solidFill>
                  <a:srgbClr val="C1C1C8"/>
                </a:solidFill>
                <a:latin typeface="Inter"/>
              </a:rPr>
              <a:t> — Begins the 10-question duel — 15 seconds per question.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Lock answer</a:t>
            </a:r>
            <a:r>
              <a:rPr sz="1250">
                <a:solidFill>
                  <a:srgbClr val="C1C1C8"/>
                </a:solidFill>
                <a:latin typeface="Inter"/>
              </a:rPr>
              <a:t> — Submits your pick. First correct answer takes the point.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Rematch</a:t>
            </a:r>
            <a:r>
              <a:rPr sz="1250">
                <a:solidFill>
                  <a:srgbClr val="C1C1C8"/>
                </a:solidFill>
                <a:latin typeface="Inter"/>
              </a:rPr>
              <a:t> — After the battle, instantly start another with the same opponent.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22 / 51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EXAM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What will likely appear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AI predicts the highest-probability questions for your upcoming exam.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Pick exam</a:t>
            </a:r>
            <a:r>
              <a:rPr sz="1250">
                <a:solidFill>
                  <a:srgbClr val="C1C1C8"/>
                </a:solidFill>
                <a:latin typeface="Inter"/>
              </a:rPr>
              <a:t> — Choose the board + class + subject + exam type.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Generate prediction</a:t>
            </a:r>
            <a:r>
              <a:rPr sz="1250">
                <a:solidFill>
                  <a:srgbClr val="C1C1C8"/>
                </a:solidFill>
                <a:latin typeface="Inter"/>
              </a:rPr>
              <a:t> — Returns 15–25 likely questions ranked by probability.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See past appearances</a:t>
            </a:r>
            <a:r>
              <a:rPr sz="1250">
                <a:solidFill>
                  <a:srgbClr val="C1C1C8"/>
                </a:solidFill>
                <a:latin typeface="Inter"/>
              </a:rPr>
              <a:t> — Tap a question to see when this exact concept appeared in past years.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Practice this</a:t>
            </a:r>
            <a:r>
              <a:rPr sz="1250">
                <a:solidFill>
                  <a:srgbClr val="C1C1C8"/>
                </a:solidFill>
                <a:latin typeface="Inter"/>
              </a:rPr>
              <a:t> — Sends the predicted question to Kairo Solver for a full walkthrough.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23 / 51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PERFORMANCE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Your likely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Honest estimate of where you'll land based on your current Twin.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Estimate score</a:t>
            </a:r>
            <a:r>
              <a:rPr sz="1250">
                <a:solidFill>
                  <a:srgbClr val="C1C1C8"/>
                </a:solidFill>
                <a:latin typeface="Inter"/>
              </a:rPr>
              <a:t> — Returns an expected percentage with a confidence range.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What's holding you back</a:t>
            </a:r>
            <a:r>
              <a:rPr sz="1250">
                <a:solidFill>
                  <a:srgbClr val="C1C1C8"/>
                </a:solidFill>
                <a:latin typeface="Inter"/>
              </a:rPr>
              <a:t> — Top 3 weak topics that are pulling the prediction down.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Improve this</a:t>
            </a:r>
            <a:r>
              <a:rPr sz="1250">
                <a:solidFill>
                  <a:srgbClr val="C1C1C8"/>
                </a:solidFill>
                <a:latin typeface="Inter"/>
              </a:rPr>
              <a:t> — Generates a 7-day plan focused on each weak topic.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24 / 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MISTAKE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What you keep getting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Patterns Kairo notices across your wrong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Wrong answers list</a:t>
            </a:r>
            <a:r>
              <a:rPr sz="1250">
                <a:solidFill>
                  <a:srgbClr val="C1C1C8"/>
                </a:solidFill>
                <a:latin typeface="Inter"/>
              </a:rPr>
              <a:t> — Every wrong attempt across quizzes and battles, grouped by topic.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Pattern card</a:t>
            </a:r>
            <a:r>
              <a:rPr sz="1250">
                <a:solidFill>
                  <a:srgbClr val="C1C1C8"/>
                </a:solidFill>
                <a:latin typeface="Inter"/>
              </a:rPr>
              <a:t> — Plain-English explanation of WHY you tend to miss this kind of question.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Drill these</a:t>
            </a:r>
            <a:r>
              <a:rPr sz="1250">
                <a:solidFill>
                  <a:srgbClr val="C1C1C8"/>
                </a:solidFill>
                <a:latin typeface="Inter"/>
              </a:rPr>
              <a:t> — Generates 10 practice questions targeting the same mistake type.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25 / 51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QUESTION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Mock paper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 full mock exam paper in your board's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Pick board + class</a:t>
            </a:r>
            <a:r>
              <a:rPr sz="1250">
                <a:solidFill>
                  <a:srgbClr val="C1C1C8"/>
                </a:solidFill>
                <a:latin typeface="Inter"/>
              </a:rPr>
              <a:t> — CBSE / ICSE / State + 9–12.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Choose subject</a:t>
            </a:r>
            <a:r>
              <a:rPr sz="1250">
                <a:solidFill>
                  <a:srgbClr val="C1C1C8"/>
                </a:solidFill>
                <a:latin typeface="Inter"/>
              </a:rPr>
              <a:t> — Math, Physics, Chem, Bio, English, etc.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Generate</a:t>
            </a:r>
            <a:r>
              <a:rPr sz="1250">
                <a:solidFill>
                  <a:srgbClr val="C1C1C8"/>
                </a:solidFill>
                <a:latin typeface="Inter"/>
              </a:rPr>
              <a:t> — Builds a complete paper — section A/B/C, marks distribution, time limit.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Start timer</a:t>
            </a:r>
            <a:r>
              <a:rPr sz="1250">
                <a:solidFill>
                  <a:srgbClr val="C1C1C8"/>
                </a:solidFill>
                <a:latin typeface="Inter"/>
              </a:rPr>
              <a:t> — Begins a timed attempt — clock counts down in the corner.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Submit</a:t>
            </a:r>
            <a:r>
              <a:rPr sz="1250">
                <a:solidFill>
                  <a:srgbClr val="C1C1C8"/>
                </a:solidFill>
                <a:latin typeface="Inter"/>
              </a:rPr>
              <a:t> — Auto-grades MCQs; sends written answers to the Essay Grader.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Download PDF</a:t>
            </a:r>
            <a:r>
              <a:rPr sz="1250">
                <a:solidFill>
                  <a:srgbClr val="C1C1C8"/>
                </a:solidFill>
                <a:latin typeface="Inter"/>
              </a:rPr>
              <a:t> — Save the paper to print or share with classmates.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26 / 51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REVISION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Simulate the exam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Practice the full exam experience — pressure, timing, sequencing.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Begin simulation</a:t>
            </a:r>
            <a:r>
              <a:rPr sz="1250">
                <a:solidFill>
                  <a:srgbClr val="C1C1C8"/>
                </a:solidFill>
                <a:latin typeface="Inter"/>
              </a:rPr>
              <a:t> — Locks the UI into exam mode — no nav, no notifications.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Question nav</a:t>
            </a:r>
            <a:r>
              <a:rPr sz="1250">
                <a:solidFill>
                  <a:srgbClr val="C1C1C8"/>
                </a:solidFill>
                <a:latin typeface="Inter"/>
              </a:rPr>
              <a:t> — Jump between questions like in a real online paper.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Flag for review</a:t>
            </a:r>
            <a:r>
              <a:rPr sz="1250">
                <a:solidFill>
                  <a:srgbClr val="C1C1C8"/>
                </a:solidFill>
                <a:latin typeface="Inter"/>
              </a:rPr>
              <a:t> — Mark a question to revisit before submitting.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Submit paper</a:t>
            </a:r>
            <a:r>
              <a:rPr sz="1250">
                <a:solidFill>
                  <a:srgbClr val="C1C1C8"/>
                </a:solidFill>
                <a:latin typeface="Inter"/>
              </a:rPr>
              <a:t> — Ends the simulation and shows score + per-question breakdown.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27 / 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VOICE 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Talk to Kairo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Conversational voice tutor for hands-free learning.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Hold to speak</a:t>
            </a:r>
            <a:r>
              <a:rPr sz="1250">
                <a:solidFill>
                  <a:srgbClr val="C1C1C8"/>
                </a:solidFill>
                <a:latin typeface="Inter"/>
              </a:rPr>
              <a:t> — Records your question while pressed.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Release</a:t>
            </a:r>
            <a:r>
              <a:rPr sz="1250">
                <a:solidFill>
                  <a:srgbClr val="C1C1C8"/>
                </a:solidFill>
                <a:latin typeface="Inter"/>
              </a:rPr>
              <a:t> — Sends the audio. Kairo replies in voice + on-screen text.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Interrupt</a:t>
            </a:r>
            <a:r>
              <a:rPr sz="1250">
                <a:solidFill>
                  <a:srgbClr val="C1C1C8"/>
                </a:solidFill>
                <a:latin typeface="Inter"/>
              </a:rPr>
              <a:t> — Tap once to cut off Kairo mid-sentence (useful for clarifications).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Save to notebook</a:t>
            </a:r>
            <a:r>
              <a:rPr sz="1250">
                <a:solidFill>
                  <a:srgbClr val="C1C1C8"/>
                </a:solidFill>
                <a:latin typeface="Inter"/>
              </a:rPr>
              <a:t> — Stores the conversation as a note.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28 / 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CAMERA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Point at a textbook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Snap a page, get an instant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Open camera</a:t>
            </a:r>
            <a:r>
              <a:rPr sz="1250">
                <a:solidFill>
                  <a:srgbClr val="C1C1C8"/>
                </a:solidFill>
                <a:latin typeface="Inter"/>
              </a:rPr>
              <a:t> — Asks browser permission, then shows the live viewfinder.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Capture</a:t>
            </a:r>
            <a:r>
              <a:rPr sz="1250">
                <a:solidFill>
                  <a:srgbClr val="C1C1C8"/>
                </a:solidFill>
                <a:latin typeface="Inter"/>
              </a:rPr>
              <a:t> — Takes a photo of the page or problem.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Explain</a:t>
            </a:r>
            <a:r>
              <a:rPr sz="1250">
                <a:solidFill>
                  <a:srgbClr val="C1C1C8"/>
                </a:solidFill>
                <a:latin typeface="Inter"/>
              </a:rPr>
              <a:t> — Sends the photo to Kairo — returns a step-by-step solution.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Save</a:t>
            </a:r>
            <a:r>
              <a:rPr sz="1250">
                <a:solidFill>
                  <a:srgbClr val="C1C1C8"/>
                </a:solidFill>
                <a:latin typeface="Inter"/>
              </a:rPr>
              <a:t> — Adds the photo + explanation to your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29 / 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ESSAY GRADER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AI English-teacher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Paste an essay, get a grade plus inline comments.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Paste essay</a:t>
            </a:r>
            <a:r>
              <a:rPr sz="1250">
                <a:solidFill>
                  <a:srgbClr val="C1C1C8"/>
                </a:solidFill>
                <a:latin typeface="Inter"/>
              </a:rPr>
              <a:t> — Drop your essay into the text box.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Grade</a:t>
            </a:r>
            <a:r>
              <a:rPr sz="1250">
                <a:solidFill>
                  <a:srgbClr val="C1C1C8"/>
                </a:solidFill>
                <a:latin typeface="Inter"/>
              </a:rPr>
              <a:t> — Returns a score (out of 10), strengths, weaknesses, and rewrite suggestions.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Inline comments</a:t>
            </a:r>
            <a:r>
              <a:rPr sz="1250">
                <a:solidFill>
                  <a:srgbClr val="C1C1C8"/>
                </a:solidFill>
                <a:latin typeface="Inter"/>
              </a:rPr>
              <a:t> — Hover over highlighted sentences to see what to improve.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Apply rewrite</a:t>
            </a:r>
            <a:r>
              <a:rPr sz="1250">
                <a:solidFill>
                  <a:srgbClr val="C1C1C8"/>
                </a:solidFill>
                <a:latin typeface="Inter"/>
              </a:rPr>
              <a:t> — Accept Kairo's suggested rewrite for a paragraph.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30 / 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WRITING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Brainstorm, outline, polish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AI helpers for any writing assignment.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Brainstorm ideas</a:t>
            </a:r>
            <a:r>
              <a:rPr sz="1250">
                <a:solidFill>
                  <a:srgbClr val="C1C1C8"/>
                </a:solidFill>
                <a:latin typeface="Inter"/>
              </a:rPr>
              <a:t> — Generates 8–10 angles for an essay prompt.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Outline</a:t>
            </a:r>
            <a:r>
              <a:rPr sz="1250">
                <a:solidFill>
                  <a:srgbClr val="C1C1C8"/>
                </a:solidFill>
                <a:latin typeface="Inter"/>
              </a:rPr>
              <a:t> — Turns your chosen angle into a 3-part outline.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Expand paragraph</a:t>
            </a:r>
            <a:r>
              <a:rPr sz="1250">
                <a:solidFill>
                  <a:srgbClr val="C1C1C8"/>
                </a:solidFill>
                <a:latin typeface="Inter"/>
              </a:rPr>
              <a:t> — Takes a sentence and fleshes it into a full paragraph.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Tone-shift</a:t>
            </a:r>
            <a:r>
              <a:rPr sz="1250">
                <a:solidFill>
                  <a:srgbClr val="C1C1C8"/>
                </a:solidFill>
                <a:latin typeface="Inter"/>
              </a:rPr>
              <a:t> — Rewrites in formal / casual / academic tone.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31 / 51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KNOWLEDGE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Your whole syllabus as a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The full subject graph — like a metro map for your textbook.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Subject pill</a:t>
            </a:r>
            <a:r>
              <a:rPr sz="1250">
                <a:solidFill>
                  <a:srgbClr val="C1C1C8"/>
                </a:solidFill>
                <a:latin typeface="Inter"/>
              </a:rPr>
              <a:t> — Filter to one subject at a time.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Tap a node</a:t>
            </a:r>
            <a:r>
              <a:rPr sz="1250">
                <a:solidFill>
                  <a:srgbClr val="C1C1C8"/>
                </a:solidFill>
                <a:latin typeface="Inter"/>
              </a:rPr>
              <a:t> — See definition + linked sub-topics.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Path-find</a:t>
            </a:r>
            <a:r>
              <a:rPr sz="1250">
                <a:solidFill>
                  <a:srgbClr val="C1C1C8"/>
                </a:solidFill>
                <a:latin typeface="Inter"/>
              </a:rPr>
              <a:t> — Pick two nodes; Kairo shows the shortest learning path between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32 / 51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GAMIFICATION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XP, streaks, badges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Optional layer that rewards consistent studying.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Daily streak</a:t>
            </a:r>
            <a:r>
              <a:rPr sz="1250">
                <a:solidFill>
                  <a:srgbClr val="C1C1C8"/>
                </a:solidFill>
                <a:latin typeface="Inter"/>
              </a:rPr>
              <a:t> — Counts consecutive study days — visible at the top of the dashboard.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Claim XP</a:t>
            </a:r>
            <a:r>
              <a:rPr sz="1250">
                <a:solidFill>
                  <a:srgbClr val="C1C1C8"/>
                </a:solidFill>
                <a:latin typeface="Inter"/>
              </a:rPr>
              <a:t> — Tap when you finish a session to log XP.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Badges tab</a:t>
            </a:r>
            <a:r>
              <a:rPr sz="1250">
                <a:solidFill>
                  <a:srgbClr val="C1C1C8"/>
                </a:solidFill>
                <a:latin typeface="Inter"/>
              </a:rPr>
              <a:t> — Shows all the achievements unlocked so far.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Leaderboard (optional)</a:t>
            </a:r>
            <a:r>
              <a:rPr sz="1250">
                <a:solidFill>
                  <a:srgbClr val="C1C1C8"/>
                </a:solidFill>
                <a:latin typeface="Inter"/>
              </a:rPr>
              <a:t> — Compare with classmates in the same school — opt-in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33 / 51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LESSON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AI lesson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For teachers — instantly draft a lesson plan for any chapter.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Pick chapter</a:t>
            </a:r>
            <a:r>
              <a:rPr sz="1250">
                <a:solidFill>
                  <a:srgbClr val="C1C1C8"/>
                </a:solidFill>
                <a:latin typeface="Inter"/>
              </a:rPr>
              <a:t> — Subject + grade + chapter.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Generate plan</a:t>
            </a:r>
            <a:r>
              <a:rPr sz="1250">
                <a:solidFill>
                  <a:srgbClr val="C1C1C8"/>
                </a:solidFill>
                <a:latin typeface="Inter"/>
              </a:rPr>
              <a:t> — 60-min lesson with objectives, activities, assessment, homework.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Edit inline</a:t>
            </a:r>
            <a:r>
              <a:rPr sz="1250">
                <a:solidFill>
                  <a:srgbClr val="C1C1C8"/>
                </a:solidFill>
                <a:latin typeface="Inter"/>
              </a:rPr>
              <a:t> — Tweak any section by typing.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Export to PDF</a:t>
            </a:r>
            <a:r>
              <a:rPr sz="1250">
                <a:solidFill>
                  <a:srgbClr val="C1C1C8"/>
                </a:solidFill>
                <a:latin typeface="Inter"/>
              </a:rPr>
              <a:t> — Print-ready lesson sheet.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34 / 51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TEACHER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AI co-pilot for teachers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 quick assistant for grading, doubts, and class prep.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Ask anything</a:t>
            </a:r>
            <a:r>
              <a:rPr sz="1250">
                <a:solidFill>
                  <a:srgbClr val="C1C1C8"/>
                </a:solidFill>
                <a:latin typeface="Inter"/>
              </a:rPr>
              <a:t> — A teacher-tuned version of the Solver — gets pedagogy-aware answers.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Bulk-grade</a:t>
            </a:r>
            <a:r>
              <a:rPr sz="1250">
                <a:solidFill>
                  <a:srgbClr val="C1C1C8"/>
                </a:solidFill>
                <a:latin typeface="Inter"/>
              </a:rPr>
              <a:t> — Upload a folder of student answers; Kairo grades each one.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Talking points</a:t>
            </a:r>
            <a:r>
              <a:rPr sz="1250">
                <a:solidFill>
                  <a:srgbClr val="C1C1C8"/>
                </a:solidFill>
                <a:latin typeface="Inter"/>
              </a:rPr>
              <a:t> — Generate discussion points for tomorrow's class on a given topic.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35 / 51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EXPLAIN MISTAKE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For teachers reviewing student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See WHY a student keeps making a specific mistake.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Pick student</a:t>
            </a:r>
            <a:r>
              <a:rPr sz="1250">
                <a:solidFill>
                  <a:srgbClr val="C1C1C8"/>
                </a:solidFill>
                <a:latin typeface="Inter"/>
              </a:rPr>
              <a:t> — Choose a student from your class roster.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See common mistakes</a:t>
            </a:r>
            <a:r>
              <a:rPr sz="1250">
                <a:solidFill>
                  <a:srgbClr val="C1C1C8"/>
                </a:solidFill>
                <a:latin typeface="Inter"/>
              </a:rPr>
              <a:t> — Top 5 wrong-answer patterns from their Kairo activity.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Draft a message</a:t>
            </a:r>
            <a:r>
              <a:rPr sz="1250">
                <a:solidFill>
                  <a:srgbClr val="C1C1C8"/>
                </a:solidFill>
                <a:latin typeface="Inter"/>
              </a:rPr>
              <a:t> — Generate a kind, encouraging message to the student about one of those patterns.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36 / 51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SCHOOL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The admin control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Run an entire school from one screen.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Active students</a:t>
            </a:r>
            <a:r>
              <a:rPr sz="1250">
                <a:solidFill>
                  <a:srgbClr val="C1C1C8"/>
                </a:solidFill>
                <a:latin typeface="Inter"/>
              </a:rPr>
              <a:t> — Live count of students using Kairo this week.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Invite teacher</a:t>
            </a:r>
            <a:r>
              <a:rPr sz="1250">
                <a:solidFill>
                  <a:srgbClr val="C1C1C8"/>
                </a:solidFill>
                <a:latin typeface="Inter"/>
              </a:rPr>
              <a:t> — Send the join code to a teacher; opens their inbox.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Manage classes</a:t>
            </a:r>
            <a:r>
              <a:rPr sz="1250">
                <a:solidFill>
                  <a:srgbClr val="C1C1C8"/>
                </a:solidFill>
                <a:latin typeface="Inter"/>
              </a:rPr>
              <a:t> — Add / remove classes, assign teachers, view rosters.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Reports</a:t>
            </a:r>
            <a:r>
              <a:rPr sz="1250">
                <a:solidFill>
                  <a:srgbClr val="C1C1C8"/>
                </a:solidFill>
                <a:latin typeface="Inter"/>
              </a:rPr>
              <a:t> — Weekly digest — attendance, top performers, struggling students.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Settings</a:t>
            </a:r>
            <a:r>
              <a:rPr sz="1250">
                <a:solidFill>
                  <a:srgbClr val="C1C1C8"/>
                </a:solidFill>
                <a:latin typeface="Inter"/>
              </a:rPr>
              <a:t> — School logo, name, billing (when paid plans launch).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37 / 51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OPS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System health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For admins — make sure everything is running.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Live student count</a:t>
            </a:r>
            <a:r>
              <a:rPr sz="1250">
                <a:solidFill>
                  <a:srgbClr val="C1C1C8"/>
                </a:solidFill>
                <a:latin typeface="Inter"/>
              </a:rPr>
              <a:t> — How many students are inside Kairo right now.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Error rate</a:t>
            </a:r>
            <a:r>
              <a:rPr sz="1250">
                <a:solidFill>
                  <a:srgbClr val="C1C1C8"/>
                </a:solidFill>
                <a:latin typeface="Inter"/>
              </a:rPr>
              <a:t> — Server errors in the last 24h.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Slow queries</a:t>
            </a:r>
            <a:r>
              <a:rPr sz="1250">
                <a:solidFill>
                  <a:srgbClr val="C1C1C8"/>
                </a:solidFill>
                <a:latin typeface="Inter"/>
              </a:rPr>
              <a:t> — Pages that took &gt;2s to load — investigate.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38 / 51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Numbers +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Class- and student-level analytics for teachers and admins.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Time-range picker</a:t>
            </a:r>
            <a:r>
              <a:rPr sz="1250">
                <a:solidFill>
                  <a:srgbClr val="C1C1C8"/>
                </a:solidFill>
                <a:latin typeface="Inter"/>
              </a:rPr>
              <a:t> — Today, This week, Month, All time.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Class chart</a:t>
            </a:r>
            <a:r>
              <a:rPr sz="1250">
                <a:solidFill>
                  <a:srgbClr val="C1C1C8"/>
                </a:solidFill>
                <a:latin typeface="Inter"/>
              </a:rPr>
              <a:t> — Avg quiz score per class.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Student drill-down</a:t>
            </a:r>
            <a:r>
              <a:rPr sz="1250">
                <a:solidFill>
                  <a:srgbClr val="C1C1C8"/>
                </a:solidFill>
                <a:latin typeface="Inter"/>
              </a:rPr>
              <a:t> — Click a class to see per-student scores.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Export CSV</a:t>
            </a:r>
            <a:r>
              <a:rPr sz="1250">
                <a:solidFill>
                  <a:srgbClr val="C1C1C8"/>
                </a:solidFill>
                <a:latin typeface="Inter"/>
              </a:rPr>
              <a:t> — Download the raw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39 / 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ATTENDANCE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Daily roll-call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Quick, swipe-based attendance for teachers.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Swipe right</a:t>
            </a:r>
            <a:r>
              <a:rPr sz="1250">
                <a:solidFill>
                  <a:srgbClr val="C1C1C8"/>
                </a:solidFill>
                <a:latin typeface="Inter"/>
              </a:rPr>
              <a:t> — Mark present.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Swipe left</a:t>
            </a:r>
            <a:r>
              <a:rPr sz="1250">
                <a:solidFill>
                  <a:srgbClr val="C1C1C8"/>
                </a:solidFill>
                <a:latin typeface="Inter"/>
              </a:rPr>
              <a:t> — Mark absent.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Long-press</a:t>
            </a:r>
            <a:r>
              <a:rPr sz="1250">
                <a:solidFill>
                  <a:srgbClr val="C1C1C8"/>
                </a:solidFill>
                <a:latin typeface="Inter"/>
              </a:rPr>
              <a:t> — Mark late or excused.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Submit</a:t>
            </a:r>
            <a:r>
              <a:rPr sz="1250">
                <a:solidFill>
                  <a:srgbClr val="C1C1C8"/>
                </a:solidFill>
                <a:latin typeface="Inter"/>
              </a:rPr>
              <a:t> — Saves today's attendance to the school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40 / 51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ANNOUNCEMENT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Talk to the whole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Push an announcement to students, parents, or teachers.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Compose</a:t>
            </a:r>
            <a:r>
              <a:rPr sz="1250">
                <a:solidFill>
                  <a:srgbClr val="C1C1C8"/>
                </a:solidFill>
                <a:latin typeface="Inter"/>
              </a:rPr>
              <a:t> — Type your message; Markdown supported.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Audience picker</a:t>
            </a:r>
            <a:r>
              <a:rPr sz="1250">
                <a:solidFill>
                  <a:srgbClr val="C1C1C8"/>
                </a:solidFill>
                <a:latin typeface="Inter"/>
              </a:rPr>
              <a:t> — All / one class / teachers only / parents only.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Send</a:t>
            </a:r>
            <a:r>
              <a:rPr sz="1250">
                <a:solidFill>
                  <a:srgbClr val="C1C1C8"/>
                </a:solidFill>
                <a:latin typeface="Inter"/>
              </a:rPr>
              <a:t> — Pushes the announcement — students see it on their dashboard, parents in the parent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41 / 51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FEE REMINDER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Send polite fee nudges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For admins — remind parents about pending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Pick parent</a:t>
            </a:r>
            <a:r>
              <a:rPr sz="1250">
                <a:solidFill>
                  <a:srgbClr val="C1C1C8"/>
                </a:solidFill>
                <a:latin typeface="Inter"/>
              </a:rPr>
              <a:t> — Search by student name.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Draft reminder</a:t>
            </a:r>
            <a:r>
              <a:rPr sz="1250">
                <a:solidFill>
                  <a:srgbClr val="C1C1C8"/>
                </a:solidFill>
                <a:latin typeface="Inter"/>
              </a:rPr>
              <a:t> — AI writes a polite, culturally-aware message.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Send</a:t>
            </a:r>
            <a:r>
              <a:rPr sz="1250">
                <a:solidFill>
                  <a:srgbClr val="C1C1C8"/>
                </a:solidFill>
                <a:latin typeface="Inter"/>
              </a:rPr>
              <a:t> — Delivers via email and in-app notification.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42 / 51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ADMISSION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Parent enquiries on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 chatbot for the school website that answers admissions FAQs.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Train</a:t>
            </a:r>
            <a:r>
              <a:rPr sz="1250">
                <a:solidFill>
                  <a:srgbClr val="C1C1C8"/>
                </a:solidFill>
                <a:latin typeface="Inter"/>
              </a:rPr>
              <a:t> — Upload your prospectus / handbook; bot learns your school's answers.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Preview</a:t>
            </a:r>
            <a:r>
              <a:rPr sz="1250">
                <a:solidFill>
                  <a:srgbClr val="C1C1C8"/>
                </a:solidFill>
                <a:latin typeface="Inter"/>
              </a:rPr>
              <a:t> — Test the bot before going live.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Embed</a:t>
            </a:r>
            <a:r>
              <a:rPr sz="1250">
                <a:solidFill>
                  <a:srgbClr val="C1C1C8"/>
                </a:solidFill>
                <a:latin typeface="Inter"/>
              </a:rPr>
              <a:t> — Copy a one-line embed code for your school website.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43 / 51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TIMETABLE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Weekly class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Drag-and-drop timetable builder.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Drag class</a:t>
            </a:r>
            <a:r>
              <a:rPr sz="1250">
                <a:solidFill>
                  <a:srgbClr val="C1C1C8"/>
                </a:solidFill>
                <a:latin typeface="Inter"/>
              </a:rPr>
              <a:t> — Move a subject to a different time slot.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Add period</a:t>
            </a:r>
            <a:r>
              <a:rPr sz="1250">
                <a:solidFill>
                  <a:srgbClr val="C1C1C8"/>
                </a:solidFill>
                <a:latin typeface="Inter"/>
              </a:rPr>
              <a:t> — Insert a new period for a teacher.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Auto-fill</a:t>
            </a:r>
            <a:r>
              <a:rPr sz="1250">
                <a:solidFill>
                  <a:srgbClr val="C1C1C8"/>
                </a:solidFill>
                <a:latin typeface="Inter"/>
              </a:rPr>
              <a:t> — AI fills empty slots based on class needs.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Publish</a:t>
            </a:r>
            <a:r>
              <a:rPr sz="1250">
                <a:solidFill>
                  <a:srgbClr val="C1C1C8"/>
                </a:solidFill>
                <a:latin typeface="Inter"/>
              </a:rPr>
              <a:t> — Pushes the timetable live to every student and teacher.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44 / 51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PARENT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What your child is doing on Kairo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For parents linked to a student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Today's study time</a:t>
            </a:r>
            <a:r>
              <a:rPr sz="1250">
                <a:solidFill>
                  <a:srgbClr val="C1C1C8"/>
                </a:solidFill>
                <a:latin typeface="Inter"/>
              </a:rPr>
              <a:t> — How long your child studied today.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Subjects covered</a:t>
            </a:r>
            <a:r>
              <a:rPr sz="1250">
                <a:solidFill>
                  <a:srgbClr val="C1C1C8"/>
                </a:solidFill>
                <a:latin typeface="Inter"/>
              </a:rPr>
              <a:t> — Topics they worked 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Quiz scores</a:t>
            </a:r>
            <a:r>
              <a:rPr sz="1250">
                <a:solidFill>
                  <a:srgbClr val="C1C1C8"/>
                </a:solidFill>
                <a:latin typeface="Inter"/>
              </a:rPr>
              <a:t> — Latest scores from any Kairo quiz.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Message child</a:t>
            </a:r>
            <a:r>
              <a:rPr sz="1250">
                <a:solidFill>
                  <a:srgbClr val="C1C1C8"/>
                </a:solidFill>
                <a:latin typeface="Inter"/>
              </a:rPr>
              <a:t> — Send an encouraging note that pops up on their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45 / 51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PARENT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Talk to the teacher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Direct, private message thread with a teacher.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New thread</a:t>
            </a:r>
            <a:r>
              <a:rPr sz="1250">
                <a:solidFill>
                  <a:srgbClr val="C1C1C8"/>
                </a:solidFill>
                <a:latin typeface="Inter"/>
              </a:rPr>
              <a:t> — Start a conversation about your child.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Send</a:t>
            </a:r>
            <a:r>
              <a:rPr sz="1250">
                <a:solidFill>
                  <a:srgbClr val="C1C1C8"/>
                </a:solidFill>
                <a:latin typeface="Inter"/>
              </a:rPr>
              <a:t> — Pushes the message; teacher gets a notification.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Translate</a:t>
            </a:r>
            <a:r>
              <a:rPr sz="1250">
                <a:solidFill>
                  <a:srgbClr val="C1C1C8"/>
                </a:solidFill>
                <a:latin typeface="Inter"/>
              </a:rPr>
              <a:t> — Auto-translate the teacher's reply if it's in a different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46 / 51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Your account &amp;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Everything you can change about Kairo.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Profile</a:t>
            </a:r>
            <a:r>
              <a:rPr sz="1250">
                <a:solidFill>
                  <a:srgbClr val="C1C1C8"/>
                </a:solidFill>
                <a:latin typeface="Inter"/>
              </a:rPr>
              <a:t> — Change your name, avatar, class, board.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Theme toggle</a:t>
            </a:r>
            <a:r>
              <a:rPr sz="1250">
                <a:solidFill>
                  <a:srgbClr val="C1C1C8"/>
                </a:solidFill>
                <a:latin typeface="Inter"/>
              </a:rPr>
              <a:t> — Dark / light mode.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Reset Passcode</a:t>
            </a:r>
            <a:r>
              <a:rPr sz="1250">
                <a:solidFill>
                  <a:srgbClr val="C1C1C8"/>
                </a:solidFill>
                <a:latin typeface="Inter"/>
              </a:rPr>
              <a:t> — Opens the 5-step OTP flow to reset your 6-digit Kairo OS device PIN.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Export Twin</a:t>
            </a:r>
            <a:r>
              <a:rPr sz="1250">
                <a:solidFill>
                  <a:srgbClr val="C1C1C8"/>
                </a:solidFill>
                <a:latin typeface="Inter"/>
              </a:rPr>
              <a:t> — Download a JSON of your Twin data — back up everything to your computer.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Import Twin</a:t>
            </a:r>
            <a:r>
              <a:rPr sz="1250">
                <a:solidFill>
                  <a:srgbClr val="C1C1C8"/>
                </a:solidFill>
                <a:latin typeface="Inter"/>
              </a:rPr>
              <a:t> — Load a Twin JSON onto this device — useful for moving devices manually.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Terms &amp; Conditions</a:t>
            </a:r>
            <a:r>
              <a:rPr sz="1250">
                <a:solidFill>
                  <a:srgbClr val="C1C1C8"/>
                </a:solidFill>
                <a:latin typeface="Inter"/>
              </a:rPr>
              <a:t> — Opens the Terms modal.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Privacy Policy</a:t>
            </a:r>
            <a:r>
              <a:rPr sz="1250">
                <a:solidFill>
                  <a:srgbClr val="C1C1C8"/>
                </a:solidFill>
                <a:latin typeface="Inter"/>
              </a:rPr>
              <a:t> — Opens the Privacy modal.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Delete account</a:t>
            </a:r>
            <a:r>
              <a:rPr sz="1250">
                <a:solidFill>
                  <a:srgbClr val="C1C1C8"/>
                </a:solidFill>
                <a:latin typeface="Inter"/>
              </a:rPr>
              <a:t> — Permanently delete your account and server data within 30 days.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Logout</a:t>
            </a:r>
            <a:r>
              <a:rPr sz="1250">
                <a:solidFill>
                  <a:srgbClr val="C1C1C8"/>
                </a:solidFill>
                <a:latin typeface="Inter"/>
              </a:rPr>
              <a:t> — Signs you out on this device only — other devices stay signed 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47 / 51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RESET PASSCODE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5-step mobile-first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For when you forgot your 6-digit Kairo OS device passcode.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1 · Email</a:t>
            </a:r>
            <a:r>
              <a:rPr sz="1250">
                <a:solidFill>
                  <a:srgbClr val="C1C1C8"/>
                </a:solidFill>
                <a:latin typeface="Inter"/>
              </a:rPr>
              <a:t> — Type the email on your account; tap Continue. Server sends a 6-digit code.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2 · Enter OTP</a:t>
            </a:r>
            <a:r>
              <a:rPr sz="1250">
                <a:solidFill>
                  <a:srgbClr val="C1C1C8"/>
                </a:solidFill>
                <a:latin typeface="Inter"/>
              </a:rPr>
              <a:t> — 6-cell input. Paste-friendly. Live "Resend in 30s" countdown. Errors shake the field.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Resend code</a:t>
            </a:r>
            <a:r>
              <a:rPr sz="1250">
                <a:solidFill>
                  <a:srgbClr val="C1C1C8"/>
                </a:solidFill>
                <a:latin typeface="Inter"/>
              </a:rPr>
              <a:t> — Available after 30 seconds. Up to 4 sends per 10 minutes.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3 · New PIN</a:t>
            </a:r>
            <a:r>
              <a:rPr sz="1250">
                <a:solidFill>
                  <a:srgbClr val="C1C1C8"/>
                </a:solidFill>
                <a:latin typeface="Inter"/>
              </a:rPr>
              <a:t> — Pick a new 6-digit PIN. Live strength meter (weak / good / strong).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4 · Confirm PIN</a:t>
            </a:r>
            <a:r>
              <a:rPr sz="1250">
                <a:solidFill>
                  <a:srgbClr val="C1C1C8"/>
                </a:solidFill>
                <a:latin typeface="Inter"/>
              </a:rPr>
              <a:t> — Re-type the same 6 digits. Mismatch shakes the keypad.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Step 5 · Success</a:t>
            </a:r>
            <a:r>
              <a:rPr sz="1250">
                <a:solidFill>
                  <a:srgbClr val="C1C1C8"/>
                </a:solidFill>
                <a:latin typeface="Inter"/>
              </a:rPr>
              <a:t> — Confetti burst + "All set". Tap Done to return to settings.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Back arrow on every step</a:t>
            </a:r>
            <a:r>
              <a:rPr sz="1250">
                <a:solidFill>
                  <a:srgbClr val="C1C1C8"/>
                </a:solidFill>
                <a:latin typeface="Inter"/>
              </a:rPr>
              <a:t> — Goes back one step without losing your progress.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96"/>
                </a:solidFill>
                <a:latin typeface="Inter"/>
              </a:rPr>
              <a:t>OTP is hashed (SHA-256 + per-email salt), stored 10 min max, destroyed on first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48 / 51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MOBILE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Native-feel on small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Kairo OS, dock, and gestures rebuilt for phones.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91672" cy="4114800"/>
          </a:xfrm>
          <a:prstGeom prst="roundRect">
            <a:avLst>
              <a:gd name="adj" fmla="val 4000"/>
            </a:avLst>
          </a:prstGeom>
          <a:solidFill>
            <a:srgbClr val="0C0C14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B5FD"/>
                </a:solidFill>
                <a:latin typeface="Inter"/>
              </a:rPr>
              <a:t>What every button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105156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Splash screen</a:t>
            </a:r>
            <a:r>
              <a:rPr sz="1250">
                <a:solidFill>
                  <a:srgbClr val="C1C1C8"/>
                </a:solidFill>
                <a:latin typeface="Inter"/>
              </a:rPr>
              <a:t> — 3-second boot animation on first open per session.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Floating dock</a:t>
            </a:r>
            <a:r>
              <a:rPr sz="1250">
                <a:solidFill>
                  <a:srgbClr val="C1C1C8"/>
                </a:solidFill>
                <a:latin typeface="Inter"/>
              </a:rPr>
              <a:t> — Glass-style bottom dock with the 5 most-used features.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Pull to refresh</a:t>
            </a:r>
            <a:r>
              <a:rPr sz="1250">
                <a:solidFill>
                  <a:srgbClr val="C1C1C8"/>
                </a:solidFill>
                <a:latin typeface="Inter"/>
              </a:rPr>
              <a:t> — Refresh the Twin from the dashboard.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Swipe nav</a:t>
            </a:r>
            <a:r>
              <a:rPr sz="1250">
                <a:solidFill>
                  <a:srgbClr val="C1C1C8"/>
                </a:solidFill>
                <a:latin typeface="Inter"/>
              </a:rPr>
              <a:t> — Swipe between screens within a feature (e.g. flashcards).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Safe-area handling</a:t>
            </a:r>
            <a:r>
              <a:rPr sz="1250">
                <a:solidFill>
                  <a:srgbClr val="C1C1C8"/>
                </a:solidFill>
                <a:latin typeface="Inter"/>
              </a:rPr>
              <a:t> — All screens respect iOS / Android safe-area insets — never under the notch.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49 / 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41422"/>
          </a:solidFill>
          <a:ln w="9525">
            <a:solidFill>
              <a:srgbClr val="222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 bIns="25400"/>
          <a:lstStyle/>
          <a:p>
            <a:pPr algn="ctr"/>
            <a:r>
              <a:rPr sz="1000" b="1">
                <a:solidFill>
                  <a:srgbClr val="C4B5FD"/>
                </a:solidFill>
                <a:latin typeface="Inter"/>
              </a:rP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What powers Kairo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1C1C8"/>
                </a:solidFill>
                <a:latin typeface="Inter"/>
              </a:rPr>
              <a:t>A modern stack chosen for speed, privacy, and developer happiness.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React + TypeScript + Vite</a:t>
            </a:r>
            <a:r>
              <a:rPr sz="1250">
                <a:solidFill>
                  <a:srgbClr val="C1C1C8"/>
                </a:solidFill>
                <a:latin typeface="Inter"/>
              </a:rPr>
              <a:t> — Front-end app — fast HMR, type-safe everywhere.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Framer Motion</a:t>
            </a:r>
            <a:r>
              <a:rPr sz="1250">
                <a:solidFill>
                  <a:srgbClr val="C1C1C8"/>
                </a:solidFill>
                <a:latin typeface="Inter"/>
              </a:rPr>
              <a:t> — All page transitions, micro-animations.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Three.js / R3F</a:t>
            </a:r>
            <a:r>
              <a:rPr sz="1250">
                <a:solidFill>
                  <a:srgbClr val="C1C1C8"/>
                </a:solidFill>
                <a:latin typeface="Inter"/>
              </a:rPr>
              <a:t> — The 3D physics labs.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Tailwind-free CSS-in-JS</a:t>
            </a:r>
            <a:r>
              <a:rPr sz="1250">
                <a:solidFill>
                  <a:srgbClr val="C1C1C8"/>
                </a:solidFill>
                <a:latin typeface="Inter"/>
              </a:rPr>
              <a:t> — Strict monochrome palette — hand-written for the brand.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localStorage Twin</a:t>
            </a:r>
            <a:r>
              <a:rPr sz="1250">
                <a:solidFill>
                  <a:srgbClr val="C1C1C8"/>
                </a:solidFill>
                <a:latin typeface="Inter"/>
              </a:rPr>
              <a:t> — Your data lives on YOUR device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Express.js + Node</a:t>
            </a:r>
            <a:r>
              <a:rPr sz="1250">
                <a:solidFill>
                  <a:srgbClr val="C1C1C8"/>
                </a:solidFill>
                <a:latin typeface="Inter"/>
              </a:rPr>
              <a:t> — API server — auth, OTP, school management.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Supabase</a:t>
            </a:r>
            <a:r>
              <a:rPr sz="1250">
                <a:solidFill>
                  <a:srgbClr val="C1C1C8"/>
                </a:solidFill>
                <a:latin typeface="Inter"/>
              </a:rPr>
              <a:t> — Postgres + auth + storage.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OpenRouter + Groq</a:t>
            </a:r>
            <a:r>
              <a:rPr sz="1250">
                <a:solidFill>
                  <a:srgbClr val="C1C1C8"/>
                </a:solidFill>
                <a:latin typeface="Inter"/>
              </a:rPr>
              <a:t> — AI inference for Solver, Voice Tutor, every AI feature.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Nodemailer (Gmail SMTP)</a:t>
            </a:r>
            <a:r>
              <a:rPr sz="1250">
                <a:solidFill>
                  <a:srgbClr val="C1C1C8"/>
                </a:solidFill>
                <a:latin typeface="Inter"/>
              </a:rPr>
              <a:t> — Transactional email — OTPs, reset links.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C4B5FD"/>
                </a:solidFill>
                <a:latin typeface="Inter"/>
              </a:rPr>
              <a:t>•  </a:t>
            </a:r>
            <a:r>
              <a:rPr sz="1250" b="1">
                <a:solidFill>
                  <a:srgbClr val="FFFFFF"/>
                </a:solidFill>
                <a:latin typeface="Inter"/>
              </a:rPr>
              <a:t>Vercel</a:t>
            </a:r>
            <a:r>
              <a:rPr sz="1250">
                <a:solidFill>
                  <a:srgbClr val="C1C1C8"/>
                </a:solidFill>
                <a:latin typeface="Inter"/>
              </a:rPr>
              <a:t> — Hosting + edge functions.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50 / 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B21B6">
              <a:alpha val="823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5486400" cy="5486400"/>
          </a:xfrm>
          <a:prstGeom prst="ellipse">
            <a:avLst/>
          </a:prstGeom>
          <a:solidFill>
            <a:srgbClr val="7C3AED">
              <a:alpha val="62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Inter"/>
              </a:rPr>
              <a:t>Built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C1C1C8"/>
                </a:solidFill>
                <a:latin typeface="Inter"/>
              </a:rPr>
              <a:t>Every screen in Kairo was designed to help one student do one thing better: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4B5FD"/>
                </a:solidFill>
                <a:latin typeface="Inter"/>
              </a:rPr>
              <a:t>understand.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8A96"/>
                </a:solidFill>
                <a:latin typeface="Inter"/>
              </a:rPr>
              <a:t>quro.cor@gmail.com  ·  kairo.app  ·  Accelerate Your Academics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8A96"/>
                </a:solidFill>
                <a:latin typeface="Inter"/>
              </a:rPr>
              <a:t>Kairo — Accelerate Your Academics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446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A96"/>
                </a:solidFill>
                <a:latin typeface="Inter"/>
              </a:rPr>
              <a:t>51 /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